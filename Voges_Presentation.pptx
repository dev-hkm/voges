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VN — Ghi chú thuyết trình:</a:t>
            </a:r>
          </a:p>
          <a:p>
            <a:r>
              <a:t>Chào ban giám khảo, chúng tôi là đội phát triển Voges. Voges là một trợ lý tài chính bằng giọng nói (Voice-first AI Financial Concierge) dành riêng cho GoTyme Bank. Hãy nhớ thông điệp cốt lõi này: Giọng nói là giao diện tương tác chính, còn màn hình hiển thị đóng vai trò là lớp bảo vệ an toàn.</a:t>
            </a:r>
          </a:p>
          <a:p/>
          <a:p>
            <a:r>
              <a:t>EN — Speaking script:</a:t>
            </a:r>
          </a:p>
          <a:p>
            <a:r>
              <a:t>Good afternoon, judges. We are the team behind Voges, a voice-first AI financial concierge built specifically for GoTyme Bank. Our core architectural design is simple: voice is the primary interface, and the screen is the safety layer. We eliminate the friction of complex banking menus while keeping transactions completely secure.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VN — Ghi chú thuyết trình:</a:t>
            </a:r>
          </a:p>
          <a:p>
            <a:r>
              <a:t>Phần 2: Nêu rõ nỗi đau (pain point). Ứng dụng ngân hàng hiện nay quá nhiều menu phức tạp, làm giảm trải nghiệm khi cần thao tác nhanh. Ngược lại, nếu đưa AI vào để thực hiện giao dịch tự động bằng giọng nói thì rủi ro bịa đặt (hallucination) hoặc chiếm đoạt tài khoản là cực kỳ cao.</a:t>
            </a:r>
          </a:p>
          <a:p/>
          <a:p>
            <a:r>
              <a:t>EN — Speaking script:</a:t>
            </a:r>
          </a:p>
          <a:p>
            <a:r>
              <a:t>Let's look at the problem. Traditional banking apps are feature-rich but suffer from buried navigation. Crucial security settings like freezing a card or toggling online payments are hidden deep in sub-menus. While natural voice control is the obvious solution, financial AI faces a security dilemma: standard chatbots are FAQ-only and useless, while AI agents with direct write access are a massive security liability due to prompt injections and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VN — Ghi chú thuyết trình:</a:t>
            </a:r>
          </a:p>
          <a:p>
            <a:r>
              <a:t>Phần 3: Kiến trúc Agent của Voges. Luồng xử lý chia làm 5 bước rõ ràng: Giọng nói truyền qua WebRTC -&gt; GPT đề xuất Tool Call -&gt; Server Router chặn lại và chuyển tới Policy Engine -&gt; Tạo Pending Action trên màn hình -&gt; Người dùng chạm Passkey để xác nhận và thực thi trên D1.</a:t>
            </a:r>
          </a:p>
          <a:p/>
          <a:p>
            <a:r>
              <a:t>EN — Speaking script:</a:t>
            </a:r>
          </a:p>
          <a:p>
            <a:r>
              <a:t>This slide shows the Zero-Trust agentic workflow we built. It is a 5-step pipeline. First, the user states their Goal over WebRTC. Second, GPT Realtime plans and proposes a tool call. Third, our backend Tool Router intercepts it. Fourth, if it is sensitive, we act by generating an expiring Pending Action on screen. Fifth, the user verifies using a hardware passkey, and the server executes the SQL transaction in Cloudflare D1. The LLM only proposes; it never directly executes.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VN — Ghi chú thuyết trình:</a:t>
            </a:r>
          </a:p>
          <a:p>
            <a:r>
              <a:t>Phần 4: Ba trụ cột cốt lõi làm nên sức mạnh của Voges: (1) Policy-Controlled - kiểm soát chặt chẽ phía máy chủ; (2) Passkey-Secured - sử dụng xác thực sinh trắc học phần cứng an toàn tuyệt đối; (3) Audit-Backed - nhật ký hệ thống không thể sửa xóa giúp tăng cường tính minh bạch.</a:t>
            </a:r>
          </a:p>
          <a:p/>
          <a:p>
            <a:r>
              <a:t>EN — Speaking script:</a:t>
            </a:r>
          </a:p>
          <a:p>
            <a:r>
              <a:t>Voges wins because of three strict design pillars. First, it is Policy-Controlled: deterministic backend rules override the LLM. Hallucinations cannot compromise security. Second, it is Passkey-Secured: we verify identity cryptographically using WebAuthn. Fingerprints and face data never touch our servers. Third, it is Audit-Backed: an append-only audit trail records every intent, block, and state change for total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VN — Ghi chú thuyết trình:</a:t>
            </a:r>
          </a:p>
          <a:p>
            <a:r>
              <a:t>Phần 5: Các chỉ số thực tế và tính thực tiễn. Đã test thành công 34 kịch bản tự động bao gồm bảo mật, phát hiện lừa đảo (Scam Advisor). Giảm 90% thời gian thao tác. Tích hợp sâu vào sản phẩm GoTyme như tài khoản tiết kiệm Go Save 5% lãi suất và tài khoản Gold PAXG.</a:t>
            </a:r>
          </a:p>
          <a:p/>
          <a:p>
            <a:r>
              <a:t>EN — Speaking script:</a:t>
            </a:r>
          </a:p>
          <a:p>
            <a:r>
              <a:t>To validate credibility, we don't just rely on slides. We built a test suite with 34 automated scenarios covering scam risk, frozen account checks, and international payments. All 34 tests pass successfully. In terms of impact, Voges reduces settings navigation time by 90%. We also seeded our database with GoTyme's actual product lines, including Everyday Accounts, high-yield Go Save accounts, and tokenized PAX Gold accounts.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VN — Ghi chú thuyết trình:</a:t>
            </a:r>
          </a:p>
          <a:p>
            <a:r>
              <a:t>Phần 6: Kịch bản demo trực tiếp và Lộ trình phát triển. Demo gồm 3 bước: Hỏi tại sao Netflix decline (Read), Bật online payments (Write - cần xác nhận và passkey), Chuyển khoản hoặc bypass bảo mật (Block - bị chặn). Lộ trình đưa lên sản xuất gồm liên kết Identity thật, hỗ trợ nhiều tài khoản, và kết nối hệ thống core.</a:t>
            </a:r>
          </a:p>
          <a:p/>
          <a:p>
            <a:r>
              <a:t>EN — Speaking script:</a:t>
            </a:r>
          </a:p>
          <a:p>
            <a:r>
              <a:t>In our live demo, we will walk through three clear moments. First, a read-only query asking why a Netflix payment failed. Second, a write action to enable online payments, showing the approval sheet and biometric passkey. Third, a blocked request attempting to transfer funds. Our production roadmap focuses on three steps: binding sessions to real customer identities, implementing multi-customer isolation, and integrating with GoTyme's core banking APIs.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Line1"/>
          <p:cNvSpPr/>
          <p:nvPr/>
        </p:nvSpPr>
        <p:spPr>
          <a:xfrm>
            <a:off x="822960" y="822960"/>
            <a:ext cx="822960" cy="50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ine2"/>
          <p:cNvSpPr/>
          <p:nvPr/>
        </p:nvSpPr>
        <p:spPr>
          <a:xfrm>
            <a:off x="1737360" y="822960"/>
            <a:ext cx="822960" cy="50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ine3"/>
          <p:cNvSpPr/>
          <p:nvPr/>
        </p:nvSpPr>
        <p:spPr>
          <a:xfrm>
            <a:off x="2651760" y="822960"/>
            <a:ext cx="822960" cy="508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MainTitle"/>
          <p:cNvSpPr txBox="1"/>
          <p:nvPr/>
        </p:nvSpPr>
        <p:spPr>
          <a:xfrm>
            <a:off x="822960" y="1920240"/>
            <a:ext cx="10515600" cy="1371600"/>
          </a:xfrm>
          <a:prstGeom prst="rect">
            <a:avLst/>
          </a:prstGeom>
          <a:noFill/>
        </p:spPr>
        <p:txBody>
          <a:bodyPr wrap="square" anchor="t" lIns="0" rIns="0" tIns="0" bIns="0">
            <a:spAutoFit/>
          </a:bodyPr>
          <a:lstStyle/>
          <a:p>
            <a:pPr algn="l">
              <a:lnSpc>
                <a:spcPct val="105000"/>
              </a:lnSpc>
              <a:spcBef>
                <a:spcPts val="0"/>
              </a:spcBef>
              <a:spcAft>
                <a:spcPts val="400"/>
              </a:spcAft>
            </a:pPr>
            <a:r>
              <a:rPr sz="7600" b="1">
                <a:solidFill>
                  <a:srgbClr val="FFFFFF"/>
                </a:solidFill>
                <a:latin typeface="Segoe UI"/>
              </a:rPr>
              <a:t>Voges</a:t>
            </a:r>
          </a:p>
        </p:txBody>
      </p:sp>
      <p:sp>
        <p:nvSpPr>
          <p:cNvPr id="6" name="MainSubtitle"/>
          <p:cNvSpPr txBox="1"/>
          <p:nvPr/>
        </p:nvSpPr>
        <p:spPr>
          <a:xfrm>
            <a:off x="868680" y="3154680"/>
            <a:ext cx="10515600" cy="548640"/>
          </a:xfrm>
          <a:prstGeom prst="rect">
            <a:avLst/>
          </a:prstGeom>
          <a:noFill/>
        </p:spPr>
        <p:txBody>
          <a:bodyPr wrap="square" anchor="t" lIns="0" rIns="0" tIns="0" bIns="0">
            <a:spAutoFit/>
          </a:bodyPr>
          <a:lstStyle/>
          <a:p>
            <a:pPr algn="l">
              <a:lnSpc>
                <a:spcPct val="105000"/>
              </a:lnSpc>
              <a:spcBef>
                <a:spcPts val="0"/>
              </a:spcBef>
              <a:spcAft>
                <a:spcPts val="400"/>
              </a:spcAft>
            </a:pPr>
            <a:r>
              <a:rPr sz="2200" b="0">
                <a:solidFill>
                  <a:srgbClr val="94A3B8"/>
                </a:solidFill>
                <a:latin typeface="Segoe UI Light"/>
              </a:rPr>
              <a:t>Voice-First AI Financial Concierge for GoTyme Bank</a:t>
            </a:r>
          </a:p>
        </p:txBody>
      </p:sp>
      <p:sp>
        <p:nvSpPr>
          <p:cNvPr id="7" name="TitleDivider"/>
          <p:cNvSpPr/>
          <p:nvPr/>
        </p:nvSpPr>
        <p:spPr>
          <a:xfrm>
            <a:off x="868680" y="3977639"/>
            <a:ext cx="548640" cy="381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itlePromise"/>
          <p:cNvSpPr txBox="1"/>
          <p:nvPr/>
        </p:nvSpPr>
        <p:spPr>
          <a:xfrm>
            <a:off x="868680" y="4160520"/>
            <a:ext cx="10515600" cy="548640"/>
          </a:xfrm>
          <a:prstGeom prst="rect">
            <a:avLst/>
          </a:prstGeom>
          <a:noFill/>
        </p:spPr>
        <p:txBody>
          <a:bodyPr wrap="square" anchor="t" lIns="0" rIns="0" tIns="0" bIns="0">
            <a:spAutoFit/>
          </a:bodyPr>
          <a:lstStyle/>
          <a:p>
            <a:pPr algn="l">
              <a:lnSpc>
                <a:spcPct val="105000"/>
              </a:lnSpc>
              <a:spcBef>
                <a:spcPts val="0"/>
              </a:spcBef>
              <a:spcAft>
                <a:spcPts val="400"/>
              </a:spcAft>
            </a:pPr>
            <a:r>
              <a:rPr sz="1800" b="1">
                <a:solidFill>
                  <a:srgbClr val="FFFFFF"/>
                </a:solidFill>
                <a:latin typeface="Segoe UI Semibold"/>
              </a:rPr>
              <a:t>Voice is the primary interface. The screen is the safety layer.</a:t>
            </a:r>
          </a:p>
        </p:txBody>
      </p:sp>
      <p:sp>
        <p:nvSpPr>
          <p:cNvPr id="9" name="TitleStack"/>
          <p:cNvSpPr txBox="1"/>
          <p:nvPr/>
        </p:nvSpPr>
        <p:spPr>
          <a:xfrm>
            <a:off x="868680" y="5760720"/>
            <a:ext cx="10515600" cy="365760"/>
          </a:xfrm>
          <a:prstGeom prst="rect">
            <a:avLst/>
          </a:prstGeom>
          <a:noFill/>
        </p:spPr>
        <p:txBody>
          <a:bodyPr wrap="square" anchor="t" lIns="0" rIns="0" tIns="0" bIns="0">
            <a:spAutoFit/>
          </a:bodyPr>
          <a:lstStyle/>
          <a:p>
            <a:pPr algn="l">
              <a:lnSpc>
                <a:spcPct val="105000"/>
              </a:lnSpc>
              <a:spcBef>
                <a:spcPts val="0"/>
              </a:spcBef>
              <a:spcAft>
                <a:spcPts val="400"/>
              </a:spcAft>
            </a:pPr>
            <a:r>
              <a:rPr sz="1200" b="0">
                <a:solidFill>
                  <a:srgbClr val="64748B"/>
                </a:solidFill>
                <a:latin typeface="Segoe UI"/>
              </a:rPr>
              <a:t>GPT Realtime WebRTC  ·  Cloudflare Pages + D1  ·  WebAuthn Biometric Passkeys</a:t>
            </a:r>
          </a:p>
        </p:txBody>
      </p:sp>
      <p:sp>
        <p:nvSpPr>
          <p:cNvPr id="10" name="FooterLeft"/>
          <p:cNvSpPr txBox="1"/>
          <p:nvPr/>
        </p:nvSpPr>
        <p:spPr>
          <a:xfrm>
            <a:off x="822960" y="6419088"/>
            <a:ext cx="7315200" cy="274320"/>
          </a:xfrm>
          <a:prstGeom prst="rect">
            <a:avLst/>
          </a:prstGeom>
          <a:noFill/>
        </p:spPr>
        <p:txBody>
          <a:bodyPr wrap="square" anchor="t" lIns="0" rIns="0" tIns="0" bIns="0">
            <a:spAutoFit/>
          </a:bodyPr>
          <a:lstStyle/>
          <a:p>
            <a:pPr algn="l">
              <a:lnSpc>
                <a:spcPct val="105000"/>
              </a:lnSpc>
              <a:spcBef>
                <a:spcPts val="0"/>
              </a:spcBef>
              <a:spcAft>
                <a:spcPts val="400"/>
              </a:spcAft>
            </a:pPr>
            <a:r>
              <a:rPr sz="850" b="1">
                <a:solidFill>
                  <a:srgbClr val="64748B"/>
                </a:solidFill>
                <a:latin typeface="Segoe UI Semibold"/>
              </a:rPr>
              <a:t>VOGES</a:t>
            </a:r>
            <a:r>
              <a:rPr sz="850" b="0">
                <a:solidFill>
                  <a:srgbClr val="64748B"/>
                </a:solidFill>
                <a:latin typeface="Segoe UI"/>
              </a:rPr>
              <a:t>  ·  AI Agent for GoTyme Bank (Track P3)</a:t>
            </a:r>
          </a:p>
        </p:txBody>
      </p:sp>
      <p:sp>
        <p:nvSpPr>
          <p:cNvPr id="11" name="FooterRight"/>
          <p:cNvSpPr txBox="1"/>
          <p:nvPr/>
        </p:nvSpPr>
        <p:spPr>
          <a:xfrm>
            <a:off x="10424160" y="6419088"/>
            <a:ext cx="914400" cy="274320"/>
          </a:xfrm>
          <a:prstGeom prst="rect">
            <a:avLst/>
          </a:prstGeom>
          <a:noFill/>
        </p:spPr>
        <p:txBody>
          <a:bodyPr wrap="square" anchor="t" lIns="0" rIns="0" tIns="0" bIns="0">
            <a:spAutoFit/>
          </a:bodyPr>
          <a:lstStyle/>
          <a:p>
            <a:pPr algn="r">
              <a:lnSpc>
                <a:spcPct val="105000"/>
              </a:lnSpc>
              <a:spcBef>
                <a:spcPts val="0"/>
              </a:spcBef>
              <a:spcAft>
                <a:spcPts val="400"/>
              </a:spcAft>
            </a:pPr>
            <a:r>
              <a:rPr sz="900" b="1">
                <a:solidFill>
                  <a:srgbClr val="64748B"/>
                </a:solidFill>
                <a:latin typeface="Segoe UI Semibold"/>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822960" y="566928"/>
            <a:ext cx="10515600" cy="320040"/>
          </a:xfrm>
          <a:prstGeom prst="rect">
            <a:avLst/>
          </a:prstGeom>
          <a:noFill/>
        </p:spPr>
        <p:txBody>
          <a:bodyPr wrap="square" anchor="t" lIns="0" rIns="0" tIns="0" bIns="0">
            <a:spAutoFit/>
          </a:bodyPr>
          <a:lstStyle/>
          <a:p>
            <a:pPr algn="l">
              <a:lnSpc>
                <a:spcPct val="105000"/>
              </a:lnSpc>
              <a:spcBef>
                <a:spcPts val="0"/>
              </a:spcBef>
              <a:spcAft>
                <a:spcPts val="400"/>
              </a:spcAft>
            </a:pPr>
            <a:r>
              <a:rPr sz="1100" b="1">
                <a:solidFill>
                  <a:srgbClr val="64748B"/>
                </a:solidFill>
                <a:latin typeface="Segoe UI Semibold"/>
              </a:rPr>
              <a:t>02 / PROBLEM INSIGHT</a:t>
            </a:r>
          </a:p>
        </p:txBody>
      </p:sp>
      <p:sp>
        <p:nvSpPr>
          <p:cNvPr id="3" name="AccentLine"/>
          <p:cNvSpPr/>
          <p:nvPr/>
        </p:nvSpPr>
        <p:spPr>
          <a:xfrm>
            <a:off x="822960" y="777240"/>
            <a:ext cx="548640"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822960" y="841248"/>
            <a:ext cx="10515600" cy="777240"/>
          </a:xfrm>
          <a:prstGeom prst="rect">
            <a:avLst/>
          </a:prstGeom>
          <a:noFill/>
        </p:spPr>
        <p:txBody>
          <a:bodyPr wrap="square" anchor="t" lIns="0" rIns="0" tIns="0" bIns="0">
            <a:spAutoFit/>
          </a:bodyPr>
          <a:lstStyle/>
          <a:p>
            <a:pPr algn="l">
              <a:lnSpc>
                <a:spcPct val="105000"/>
              </a:lnSpc>
              <a:spcBef>
                <a:spcPts val="0"/>
              </a:spcBef>
              <a:spcAft>
                <a:spcPts val="400"/>
              </a:spcAft>
            </a:pPr>
            <a:r>
              <a:rPr sz="2800" b="1">
                <a:solidFill>
                  <a:srgbClr val="0F172A"/>
                </a:solidFill>
                <a:latin typeface="Segoe UI"/>
              </a:rPr>
              <a:t>The Friction of Deep Menus &amp; The Risk of Unsecured AI</a:t>
            </a:r>
          </a:p>
        </p:txBody>
      </p:sp>
      <p:sp>
        <p:nvSpPr>
          <p:cNvPr id="5" name="Card_Left"/>
          <p:cNvSpPr/>
          <p:nvPr/>
        </p:nvSpPr>
        <p:spPr>
          <a:xfrm>
            <a:off x="822960" y="1920240"/>
            <a:ext cx="5029200" cy="384048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ip_Left"/>
          <p:cNvSpPr/>
          <p:nvPr/>
        </p:nvSpPr>
        <p:spPr>
          <a:xfrm>
            <a:off x="1188720" y="2194560"/>
            <a:ext cx="2286000" cy="310896"/>
          </a:xfrm>
          <a:prstGeom prst="roundRect">
            <a:avLst>
              <a:gd name="adj" fmla="val 50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231136"/>
            <a:ext cx="2286000" cy="256032"/>
          </a:xfrm>
          <a:prstGeom prst="rect">
            <a:avLst/>
          </a:prstGeom>
          <a:noFill/>
        </p:spPr>
        <p:txBody>
          <a:bodyPr wrap="square" anchor="ctr" lIns="0" rIns="0" tIns="0" bIns="0">
            <a:spAutoFit/>
          </a:bodyPr>
          <a:lstStyle/>
          <a:p>
            <a:pPr algn="ctr">
              <a:lnSpc>
                <a:spcPct val="105000"/>
              </a:lnSpc>
              <a:spcBef>
                <a:spcPts val="0"/>
              </a:spcBef>
              <a:spcAft>
                <a:spcPts val="400"/>
              </a:spcAft>
            </a:pPr>
            <a:r>
              <a:rPr sz="1050" b="1">
                <a:solidFill>
                  <a:srgbClr val="EF4444"/>
                </a:solidFill>
                <a:latin typeface="Segoe UI Semibold"/>
              </a:rPr>
              <a:t>BURIED NAVIGATION</a:t>
            </a:r>
          </a:p>
        </p:txBody>
      </p:sp>
      <p:sp>
        <p:nvSpPr>
          <p:cNvPr id="8" name="TextBox 7"/>
          <p:cNvSpPr txBox="1"/>
          <p:nvPr/>
        </p:nvSpPr>
        <p:spPr>
          <a:xfrm>
            <a:off x="1188720" y="2743200"/>
            <a:ext cx="4297680" cy="2743200"/>
          </a:xfrm>
          <a:prstGeom prst="rect">
            <a:avLst/>
          </a:prstGeom>
          <a:noFill/>
        </p:spPr>
        <p:txBody>
          <a:bodyPr wrap="square" anchor="t" lIns="0" rIns="0" tIns="0" bIns="0">
            <a:spAutoFit/>
          </a:bodyPr>
          <a:lstStyle/>
          <a:p>
            <a:pPr algn="l">
              <a:lnSpc>
                <a:spcPct val="105000"/>
              </a:lnSpc>
              <a:spcBef>
                <a:spcPts val="0"/>
              </a:spcBef>
              <a:spcAft>
                <a:spcPts val="1400"/>
              </a:spcAft>
            </a:pPr>
            <a:r>
              <a:rPr sz="1600" b="1">
                <a:solidFill>
                  <a:srgbClr val="0F172A"/>
                </a:solidFill>
                <a:latin typeface="Segoe UI Semibold"/>
              </a:rPr>
              <a:t>Buried Controls. </a:t>
            </a:r>
            <a:r>
              <a:rPr sz="1400" b="0">
                <a:solidFill>
                  <a:srgbClr val="64748B"/>
                </a:solidFill>
                <a:latin typeface="Segoe UI"/>
              </a:rPr>
              <a:t>Card settings like freezing cards, enabling online transactions, or adjusting limits require navigating 4+ layers of sub-menus.</a:t>
            </a:r>
          </a:p>
          <a:p>
            <a:pPr algn="l">
              <a:lnSpc>
                <a:spcPct val="105000"/>
              </a:lnSpc>
              <a:spcBef>
                <a:spcPts val="0"/>
              </a:spcBef>
              <a:spcAft>
                <a:spcPts val="1400"/>
              </a:spcAft>
            </a:pPr>
            <a:r>
              <a:rPr sz="1600" b="1">
                <a:solidFill>
                  <a:srgbClr val="0F172A"/>
                </a:solidFill>
                <a:latin typeface="Segoe UI Semibold"/>
              </a:rPr>
              <a:t>High Friction. </a:t>
            </a:r>
            <a:r>
              <a:rPr sz="1400" b="0">
                <a:solidFill>
                  <a:srgbClr val="64748B"/>
                </a:solidFill>
                <a:latin typeface="Segoe UI"/>
              </a:rPr>
              <a:t>Users in urgent situations (e.g., card lost or fraud suspicion) struggle to locate settings immediately, increasing support costs and user anxiety.</a:t>
            </a:r>
          </a:p>
        </p:txBody>
      </p:sp>
      <p:sp>
        <p:nvSpPr>
          <p:cNvPr id="9" name="Card_Right"/>
          <p:cNvSpPr/>
          <p:nvPr/>
        </p:nvSpPr>
        <p:spPr>
          <a:xfrm>
            <a:off x="6309360" y="1920240"/>
            <a:ext cx="5029200" cy="384048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ip_Right"/>
          <p:cNvSpPr/>
          <p:nvPr/>
        </p:nvSpPr>
        <p:spPr>
          <a:xfrm>
            <a:off x="6675120" y="2194560"/>
            <a:ext cx="2286000" cy="310896"/>
          </a:xfrm>
          <a:prstGeom prst="roundRect">
            <a:avLst>
              <a:gd name="adj" fmla="val 50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2231136"/>
            <a:ext cx="2286000" cy="256032"/>
          </a:xfrm>
          <a:prstGeom prst="rect">
            <a:avLst/>
          </a:prstGeom>
          <a:noFill/>
        </p:spPr>
        <p:txBody>
          <a:bodyPr wrap="square" anchor="ctr" lIns="0" rIns="0" tIns="0" bIns="0">
            <a:spAutoFit/>
          </a:bodyPr>
          <a:lstStyle/>
          <a:p>
            <a:pPr algn="ctr">
              <a:lnSpc>
                <a:spcPct val="105000"/>
              </a:lnSpc>
              <a:spcBef>
                <a:spcPts val="0"/>
              </a:spcBef>
              <a:spcAft>
                <a:spcPts val="400"/>
              </a:spcAft>
            </a:pPr>
            <a:r>
              <a:rPr sz="1050" b="1">
                <a:solidFill>
                  <a:srgbClr val="EF4444"/>
                </a:solidFill>
                <a:latin typeface="Segoe UI Semibold"/>
              </a:rPr>
              <a:t>THE SECURITY DILEMMA</a:t>
            </a:r>
          </a:p>
        </p:txBody>
      </p:sp>
      <p:sp>
        <p:nvSpPr>
          <p:cNvPr id="12" name="TextBox 11"/>
          <p:cNvSpPr txBox="1"/>
          <p:nvPr/>
        </p:nvSpPr>
        <p:spPr>
          <a:xfrm>
            <a:off x="6675120" y="2743200"/>
            <a:ext cx="4297680" cy="2743200"/>
          </a:xfrm>
          <a:prstGeom prst="rect">
            <a:avLst/>
          </a:prstGeom>
          <a:noFill/>
        </p:spPr>
        <p:txBody>
          <a:bodyPr wrap="square" anchor="t" lIns="0" rIns="0" tIns="0" bIns="0">
            <a:spAutoFit/>
          </a:bodyPr>
          <a:lstStyle/>
          <a:p>
            <a:pPr algn="l">
              <a:lnSpc>
                <a:spcPct val="105000"/>
              </a:lnSpc>
              <a:spcBef>
                <a:spcPts val="0"/>
              </a:spcBef>
              <a:spcAft>
                <a:spcPts val="1400"/>
              </a:spcAft>
            </a:pPr>
            <a:r>
              <a:rPr sz="1600" b="1">
                <a:solidFill>
                  <a:srgbClr val="0F172A"/>
                </a:solidFill>
                <a:latin typeface="Segoe UI Semibold"/>
              </a:rPr>
              <a:t>The FAQ Chatbot Trap. </a:t>
            </a:r>
            <a:r>
              <a:rPr sz="1400" b="0">
                <a:solidFill>
                  <a:srgbClr val="64748B"/>
                </a:solidFill>
                <a:latin typeface="Segoe UI"/>
              </a:rPr>
              <a:t>Traditional banking bots only answer static questions. They cannot take action because giving an LLM direct write access is a massive security vulnerability.</a:t>
            </a:r>
          </a:p>
          <a:p>
            <a:pPr algn="l">
              <a:lnSpc>
                <a:spcPct val="105000"/>
              </a:lnSpc>
              <a:spcBef>
                <a:spcPts val="0"/>
              </a:spcBef>
              <a:spcAft>
                <a:spcPts val="1400"/>
              </a:spcAft>
            </a:pPr>
            <a:r>
              <a:rPr sz="1600" b="1">
                <a:solidFill>
                  <a:srgbClr val="0F172A"/>
                </a:solidFill>
                <a:latin typeface="Segoe UI Semibold"/>
              </a:rPr>
              <a:t>The Hallucination Risk. </a:t>
            </a:r>
            <a:r>
              <a:rPr sz="1400" b="0">
                <a:solidFill>
                  <a:srgbClr val="64748B"/>
                </a:solidFill>
                <a:latin typeface="Segoe UI"/>
              </a:rPr>
              <a:t>If an AI agent can execute transfers or database updates directly based on voice alone, malicious prompts or accidental misinterpretations will result in financial loss.</a:t>
            </a:r>
          </a:p>
        </p:txBody>
      </p:sp>
      <p:sp>
        <p:nvSpPr>
          <p:cNvPr id="13" name="FooterLeft"/>
          <p:cNvSpPr txBox="1"/>
          <p:nvPr/>
        </p:nvSpPr>
        <p:spPr>
          <a:xfrm>
            <a:off x="822960" y="6419088"/>
            <a:ext cx="7315200" cy="274320"/>
          </a:xfrm>
          <a:prstGeom prst="rect">
            <a:avLst/>
          </a:prstGeom>
          <a:noFill/>
        </p:spPr>
        <p:txBody>
          <a:bodyPr wrap="square" anchor="t" lIns="0" rIns="0" tIns="0" bIns="0">
            <a:spAutoFit/>
          </a:bodyPr>
          <a:lstStyle/>
          <a:p>
            <a:pPr algn="l">
              <a:lnSpc>
                <a:spcPct val="105000"/>
              </a:lnSpc>
              <a:spcBef>
                <a:spcPts val="0"/>
              </a:spcBef>
              <a:spcAft>
                <a:spcPts val="400"/>
              </a:spcAft>
            </a:pPr>
            <a:r>
              <a:rPr sz="850" b="1">
                <a:solidFill>
                  <a:srgbClr val="64748B"/>
                </a:solidFill>
                <a:latin typeface="Segoe UI Semibold"/>
              </a:rPr>
              <a:t>VOGES</a:t>
            </a:r>
            <a:r>
              <a:rPr sz="850" b="0">
                <a:solidFill>
                  <a:srgbClr val="E2E8F0"/>
                </a:solidFill>
                <a:latin typeface="Segoe UI"/>
              </a:rPr>
              <a:t>  ·  AI Agent for GoTyme Bank (Track P3)</a:t>
            </a:r>
          </a:p>
        </p:txBody>
      </p:sp>
      <p:sp>
        <p:nvSpPr>
          <p:cNvPr id="14" name="FooterRight"/>
          <p:cNvSpPr txBox="1"/>
          <p:nvPr/>
        </p:nvSpPr>
        <p:spPr>
          <a:xfrm>
            <a:off x="10424160" y="6419088"/>
            <a:ext cx="914400" cy="274320"/>
          </a:xfrm>
          <a:prstGeom prst="rect">
            <a:avLst/>
          </a:prstGeom>
          <a:noFill/>
        </p:spPr>
        <p:txBody>
          <a:bodyPr wrap="square" anchor="t" lIns="0" rIns="0" tIns="0" bIns="0">
            <a:spAutoFit/>
          </a:bodyPr>
          <a:lstStyle/>
          <a:p>
            <a:pPr algn="r">
              <a:lnSpc>
                <a:spcPct val="105000"/>
              </a:lnSpc>
              <a:spcBef>
                <a:spcPts val="0"/>
              </a:spcBef>
              <a:spcAft>
                <a:spcPts val="400"/>
              </a:spcAft>
            </a:pPr>
            <a:r>
              <a:rPr sz="900" b="1">
                <a:solidFill>
                  <a:srgbClr val="64748B"/>
                </a:solidFill>
                <a:latin typeface="Segoe UI Semibold"/>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822960" y="566928"/>
            <a:ext cx="10515600" cy="320040"/>
          </a:xfrm>
          <a:prstGeom prst="rect">
            <a:avLst/>
          </a:prstGeom>
          <a:noFill/>
        </p:spPr>
        <p:txBody>
          <a:bodyPr wrap="square" anchor="t" lIns="0" rIns="0" tIns="0" bIns="0">
            <a:spAutoFit/>
          </a:bodyPr>
          <a:lstStyle/>
          <a:p>
            <a:pPr algn="l">
              <a:lnSpc>
                <a:spcPct val="105000"/>
              </a:lnSpc>
              <a:spcBef>
                <a:spcPts val="0"/>
              </a:spcBef>
              <a:spcAft>
                <a:spcPts val="400"/>
              </a:spcAft>
            </a:pPr>
            <a:r>
              <a:rPr sz="1100" b="1">
                <a:solidFill>
                  <a:srgbClr val="64748B"/>
                </a:solidFill>
                <a:latin typeface="Segoe UI Semibold"/>
              </a:rPr>
              <a:t>03 / AGENTIC WORKFLOW</a:t>
            </a:r>
          </a:p>
        </p:txBody>
      </p:sp>
      <p:sp>
        <p:nvSpPr>
          <p:cNvPr id="3" name="AccentLine"/>
          <p:cNvSpPr/>
          <p:nvPr/>
        </p:nvSpPr>
        <p:spPr>
          <a:xfrm>
            <a:off x="822960" y="777240"/>
            <a:ext cx="548640" cy="38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822960" y="841248"/>
            <a:ext cx="10515600" cy="777240"/>
          </a:xfrm>
          <a:prstGeom prst="rect">
            <a:avLst/>
          </a:prstGeom>
          <a:noFill/>
        </p:spPr>
        <p:txBody>
          <a:bodyPr wrap="square" anchor="t" lIns="0" rIns="0" tIns="0" bIns="0">
            <a:spAutoFit/>
          </a:bodyPr>
          <a:lstStyle/>
          <a:p>
            <a:pPr algn="l">
              <a:lnSpc>
                <a:spcPct val="105000"/>
              </a:lnSpc>
              <a:spcBef>
                <a:spcPts val="0"/>
              </a:spcBef>
              <a:spcAft>
                <a:spcPts val="400"/>
              </a:spcAft>
            </a:pPr>
            <a:r>
              <a:rPr sz="2800" b="1">
                <a:solidFill>
                  <a:srgbClr val="0F172A"/>
                </a:solidFill>
                <a:latin typeface="Segoe UI"/>
              </a:rPr>
              <a:t>Zero-Trust Execution: Propose on Client, Decide on Server</a:t>
            </a:r>
          </a:p>
        </p:txBody>
      </p:sp>
      <p:sp>
        <p:nvSpPr>
          <p:cNvPr id="5" name="Flow_1"/>
          <p:cNvSpPr/>
          <p:nvPr/>
        </p:nvSpPr>
        <p:spPr>
          <a:xfrm>
            <a:off x="822960" y="2011680"/>
            <a:ext cx="1965960" cy="310896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40280"/>
            <a:ext cx="1691640" cy="365760"/>
          </a:xfrm>
          <a:prstGeom prst="rect">
            <a:avLst/>
          </a:prstGeom>
          <a:noFill/>
        </p:spPr>
        <p:txBody>
          <a:bodyPr wrap="square" anchor="t" lIns="0" rIns="0" tIns="0" bIns="0">
            <a:spAutoFit/>
          </a:bodyPr>
          <a:lstStyle/>
          <a:p>
            <a:pPr algn="l">
              <a:lnSpc>
                <a:spcPct val="105000"/>
              </a:lnSpc>
              <a:spcBef>
                <a:spcPts val="0"/>
              </a:spcBef>
              <a:spcAft>
                <a:spcPts val="400"/>
              </a:spcAft>
            </a:pPr>
            <a:r>
              <a:rPr sz="1400" b="1">
                <a:solidFill>
                  <a:srgbClr val="10B981"/>
                </a:solidFill>
                <a:latin typeface="Segoe UI Semibold"/>
              </a:rPr>
              <a:t>1. GOAL</a:t>
            </a:r>
          </a:p>
        </p:txBody>
      </p:sp>
      <p:sp>
        <p:nvSpPr>
          <p:cNvPr id="8" name="TextBox 7"/>
          <p:cNvSpPr txBox="1"/>
          <p:nvPr/>
        </p:nvSpPr>
        <p:spPr>
          <a:xfrm>
            <a:off x="960120" y="2606040"/>
            <a:ext cx="1691640" cy="365760"/>
          </a:xfrm>
          <a:prstGeom prst="rect">
            <a:avLst/>
          </a:prstGeom>
          <a:noFill/>
        </p:spPr>
        <p:txBody>
          <a:bodyPr wrap="square" anchor="t" lIns="0" rIns="0" tIns="0" bIns="0">
            <a:spAutoFit/>
          </a:bodyPr>
          <a:lstStyle/>
          <a:p>
            <a:pPr algn="l">
              <a:lnSpc>
                <a:spcPct val="105000"/>
              </a:lnSpc>
              <a:spcBef>
                <a:spcPts val="0"/>
              </a:spcBef>
              <a:spcAft>
                <a:spcPts val="400"/>
              </a:spcAft>
            </a:pPr>
            <a:r>
              <a:rPr sz="1450" b="1">
                <a:solidFill>
                  <a:srgbClr val="0F172A"/>
                </a:solidFill>
                <a:latin typeface="Segoe UI Semibold"/>
              </a:rPr>
              <a:t>Speech Stream</a:t>
            </a:r>
          </a:p>
        </p:txBody>
      </p:sp>
      <p:sp>
        <p:nvSpPr>
          <p:cNvPr id="9" name="TextBox 8"/>
          <p:cNvSpPr txBox="1"/>
          <p:nvPr/>
        </p:nvSpPr>
        <p:spPr>
          <a:xfrm>
            <a:off x="960120" y="3063240"/>
            <a:ext cx="1691640" cy="1920240"/>
          </a:xfrm>
          <a:prstGeom prst="rect">
            <a:avLst/>
          </a:prstGeom>
          <a:noFill/>
        </p:spPr>
        <p:txBody>
          <a:bodyPr wrap="square" anchor="t" lIns="0" rIns="0" tIns="0" bIns="0">
            <a:spAutoFit/>
          </a:bodyPr>
          <a:lstStyle/>
          <a:p>
            <a:pPr algn="l">
              <a:lnSpc>
                <a:spcPct val="110000"/>
              </a:lnSpc>
              <a:spcBef>
                <a:spcPts val="0"/>
              </a:spcBef>
              <a:spcAft>
                <a:spcPts val="400"/>
              </a:spcAft>
            </a:pPr>
            <a:r>
              <a:rPr sz="1200" b="0">
                <a:solidFill>
                  <a:srgbClr val="64748B"/>
                </a:solidFill>
                <a:latin typeface="Segoe UI"/>
              </a:rPr>
              <a:t>User speaks naturally over direct WebRTC audio connection.</a:t>
            </a:r>
          </a:p>
        </p:txBody>
      </p:sp>
      <p:sp>
        <p:nvSpPr>
          <p:cNvPr id="10" name="Flow_2"/>
          <p:cNvSpPr/>
          <p:nvPr/>
        </p:nvSpPr>
        <p:spPr>
          <a:xfrm>
            <a:off x="2971800" y="2011680"/>
            <a:ext cx="1965960" cy="310896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71800" y="20116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2240280"/>
            <a:ext cx="1691640" cy="365760"/>
          </a:xfrm>
          <a:prstGeom prst="rect">
            <a:avLst/>
          </a:prstGeom>
          <a:noFill/>
        </p:spPr>
        <p:txBody>
          <a:bodyPr wrap="square" anchor="t" lIns="0" rIns="0" tIns="0" bIns="0">
            <a:spAutoFit/>
          </a:bodyPr>
          <a:lstStyle/>
          <a:p>
            <a:pPr algn="l">
              <a:lnSpc>
                <a:spcPct val="105000"/>
              </a:lnSpc>
              <a:spcBef>
                <a:spcPts val="0"/>
              </a:spcBef>
              <a:spcAft>
                <a:spcPts val="400"/>
              </a:spcAft>
            </a:pPr>
            <a:r>
              <a:rPr sz="1400" b="1">
                <a:solidFill>
                  <a:srgbClr val="10B981"/>
                </a:solidFill>
                <a:latin typeface="Segoe UI Semibold"/>
              </a:rPr>
              <a:t>2. PLAN</a:t>
            </a:r>
          </a:p>
        </p:txBody>
      </p:sp>
      <p:sp>
        <p:nvSpPr>
          <p:cNvPr id="13" name="TextBox 12"/>
          <p:cNvSpPr txBox="1"/>
          <p:nvPr/>
        </p:nvSpPr>
        <p:spPr>
          <a:xfrm>
            <a:off x="3108960" y="2606040"/>
            <a:ext cx="1691640" cy="365760"/>
          </a:xfrm>
          <a:prstGeom prst="rect">
            <a:avLst/>
          </a:prstGeom>
          <a:noFill/>
        </p:spPr>
        <p:txBody>
          <a:bodyPr wrap="square" anchor="t" lIns="0" rIns="0" tIns="0" bIns="0">
            <a:spAutoFit/>
          </a:bodyPr>
          <a:lstStyle/>
          <a:p>
            <a:pPr algn="l">
              <a:lnSpc>
                <a:spcPct val="105000"/>
              </a:lnSpc>
              <a:spcBef>
                <a:spcPts val="0"/>
              </a:spcBef>
              <a:spcAft>
                <a:spcPts val="400"/>
              </a:spcAft>
            </a:pPr>
            <a:r>
              <a:rPr sz="1450" b="1">
                <a:solidFill>
                  <a:srgbClr val="0F172A"/>
                </a:solidFill>
                <a:latin typeface="Segoe UI Semibold"/>
              </a:rPr>
              <a:t>Intent Parsing</a:t>
            </a:r>
          </a:p>
        </p:txBody>
      </p:sp>
      <p:sp>
        <p:nvSpPr>
          <p:cNvPr id="14" name="TextBox 13"/>
          <p:cNvSpPr txBox="1"/>
          <p:nvPr/>
        </p:nvSpPr>
        <p:spPr>
          <a:xfrm>
            <a:off x="3108960" y="3063240"/>
            <a:ext cx="1691640" cy="1920240"/>
          </a:xfrm>
          <a:prstGeom prst="rect">
            <a:avLst/>
          </a:prstGeom>
          <a:noFill/>
        </p:spPr>
        <p:txBody>
          <a:bodyPr wrap="square" anchor="t" lIns="0" rIns="0" tIns="0" bIns="0">
            <a:spAutoFit/>
          </a:bodyPr>
          <a:lstStyle/>
          <a:p>
            <a:pPr algn="l">
              <a:lnSpc>
                <a:spcPct val="110000"/>
              </a:lnSpc>
              <a:spcBef>
                <a:spcPts val="0"/>
              </a:spcBef>
              <a:spcAft>
                <a:spcPts val="400"/>
              </a:spcAft>
            </a:pPr>
            <a:r>
              <a:rPr sz="1200" b="0">
                <a:solidFill>
                  <a:srgbClr val="64748B"/>
                </a:solidFill>
                <a:latin typeface="Segoe UI"/>
              </a:rPr>
              <a:t>GPT Realtime detects intent &amp; proposes a structured tool call.</a:t>
            </a:r>
          </a:p>
        </p:txBody>
      </p:sp>
      <p:sp>
        <p:nvSpPr>
          <p:cNvPr id="15" name="Flow_3"/>
          <p:cNvSpPr/>
          <p:nvPr/>
        </p:nvSpPr>
        <p:spPr>
          <a:xfrm>
            <a:off x="5120640" y="2011680"/>
            <a:ext cx="1965960" cy="310896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20640" y="20116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57800" y="2240280"/>
            <a:ext cx="1691640" cy="365760"/>
          </a:xfrm>
          <a:prstGeom prst="rect">
            <a:avLst/>
          </a:prstGeom>
          <a:noFill/>
        </p:spPr>
        <p:txBody>
          <a:bodyPr wrap="square" anchor="t" lIns="0" rIns="0" tIns="0" bIns="0">
            <a:spAutoFit/>
          </a:bodyPr>
          <a:lstStyle/>
          <a:p>
            <a:pPr algn="l">
              <a:lnSpc>
                <a:spcPct val="105000"/>
              </a:lnSpc>
              <a:spcBef>
                <a:spcPts val="0"/>
              </a:spcBef>
              <a:spcAft>
                <a:spcPts val="400"/>
              </a:spcAft>
            </a:pPr>
            <a:r>
              <a:rPr sz="1400" b="1">
                <a:solidFill>
                  <a:srgbClr val="10B981"/>
                </a:solidFill>
                <a:latin typeface="Segoe UI Semibold"/>
              </a:rPr>
              <a:t>3. ROUTE</a:t>
            </a:r>
          </a:p>
        </p:txBody>
      </p:sp>
      <p:sp>
        <p:nvSpPr>
          <p:cNvPr id="18" name="TextBox 17"/>
          <p:cNvSpPr txBox="1"/>
          <p:nvPr/>
        </p:nvSpPr>
        <p:spPr>
          <a:xfrm>
            <a:off x="5257800" y="2606040"/>
            <a:ext cx="1691640" cy="365760"/>
          </a:xfrm>
          <a:prstGeom prst="rect">
            <a:avLst/>
          </a:prstGeom>
          <a:noFill/>
        </p:spPr>
        <p:txBody>
          <a:bodyPr wrap="square" anchor="t" lIns="0" rIns="0" tIns="0" bIns="0">
            <a:spAutoFit/>
          </a:bodyPr>
          <a:lstStyle/>
          <a:p>
            <a:pPr algn="l">
              <a:lnSpc>
                <a:spcPct val="105000"/>
              </a:lnSpc>
              <a:spcBef>
                <a:spcPts val="0"/>
              </a:spcBef>
              <a:spcAft>
                <a:spcPts val="400"/>
              </a:spcAft>
            </a:pPr>
            <a:r>
              <a:rPr sz="1450" b="1">
                <a:solidFill>
                  <a:srgbClr val="0F172A"/>
                </a:solidFill>
                <a:latin typeface="Segoe UI Semibold"/>
              </a:rPr>
              <a:t>Tool Router</a:t>
            </a:r>
          </a:p>
        </p:txBody>
      </p:sp>
      <p:sp>
        <p:nvSpPr>
          <p:cNvPr id="19" name="TextBox 18"/>
          <p:cNvSpPr txBox="1"/>
          <p:nvPr/>
        </p:nvSpPr>
        <p:spPr>
          <a:xfrm>
            <a:off x="5257800" y="3063240"/>
            <a:ext cx="1691640" cy="1920240"/>
          </a:xfrm>
          <a:prstGeom prst="rect">
            <a:avLst/>
          </a:prstGeom>
          <a:noFill/>
        </p:spPr>
        <p:txBody>
          <a:bodyPr wrap="square" anchor="t" lIns="0" rIns="0" tIns="0" bIns="0">
            <a:spAutoFit/>
          </a:bodyPr>
          <a:lstStyle/>
          <a:p>
            <a:pPr algn="l">
              <a:lnSpc>
                <a:spcPct val="110000"/>
              </a:lnSpc>
              <a:spcBef>
                <a:spcPts val="0"/>
              </a:spcBef>
              <a:spcAft>
                <a:spcPts val="400"/>
              </a:spcAft>
            </a:pPr>
            <a:r>
              <a:rPr sz="1200" b="0">
                <a:solidFill>
                  <a:srgbClr val="64748B"/>
                </a:solidFill>
                <a:latin typeface="Segoe UI"/>
              </a:rPr>
              <a:t>Server router intercepts write proposal, bypassing client control.</a:t>
            </a:r>
          </a:p>
        </p:txBody>
      </p:sp>
      <p:sp>
        <p:nvSpPr>
          <p:cNvPr id="20" name="Flow_4"/>
          <p:cNvSpPr/>
          <p:nvPr/>
        </p:nvSpPr>
        <p:spPr>
          <a:xfrm>
            <a:off x="7269480" y="2011680"/>
            <a:ext cx="1965960" cy="310896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69480" y="20116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2240280"/>
            <a:ext cx="1691640" cy="365760"/>
          </a:xfrm>
          <a:prstGeom prst="rect">
            <a:avLst/>
          </a:prstGeom>
          <a:noFill/>
        </p:spPr>
        <p:txBody>
          <a:bodyPr wrap="square" anchor="t" lIns="0" rIns="0" tIns="0" bIns="0">
            <a:spAutoFit/>
          </a:bodyPr>
          <a:lstStyle/>
          <a:p>
            <a:pPr algn="l">
              <a:lnSpc>
                <a:spcPct val="105000"/>
              </a:lnSpc>
              <a:spcBef>
                <a:spcPts val="0"/>
              </a:spcBef>
              <a:spcAft>
                <a:spcPts val="400"/>
              </a:spcAft>
            </a:pPr>
            <a:r>
              <a:rPr sz="1400" b="1">
                <a:solidFill>
                  <a:srgbClr val="10B981"/>
                </a:solidFill>
                <a:latin typeface="Segoe UI Semibold"/>
              </a:rPr>
              <a:t>4. ACT</a:t>
            </a:r>
          </a:p>
        </p:txBody>
      </p:sp>
      <p:sp>
        <p:nvSpPr>
          <p:cNvPr id="23" name="TextBox 22"/>
          <p:cNvSpPr txBox="1"/>
          <p:nvPr/>
        </p:nvSpPr>
        <p:spPr>
          <a:xfrm>
            <a:off x="7406640" y="2606040"/>
            <a:ext cx="1691640" cy="365760"/>
          </a:xfrm>
          <a:prstGeom prst="rect">
            <a:avLst/>
          </a:prstGeom>
          <a:noFill/>
        </p:spPr>
        <p:txBody>
          <a:bodyPr wrap="square" anchor="t" lIns="0" rIns="0" tIns="0" bIns="0">
            <a:spAutoFit/>
          </a:bodyPr>
          <a:lstStyle/>
          <a:p>
            <a:pPr algn="l">
              <a:lnSpc>
                <a:spcPct val="105000"/>
              </a:lnSpc>
              <a:spcBef>
                <a:spcPts val="0"/>
              </a:spcBef>
              <a:spcAft>
                <a:spcPts val="400"/>
              </a:spcAft>
            </a:pPr>
            <a:r>
              <a:rPr sz="1450" b="1">
                <a:solidFill>
                  <a:srgbClr val="0F172A"/>
                </a:solidFill>
                <a:latin typeface="Segoe UI Semibold"/>
              </a:rPr>
              <a:t>Pending Action</a:t>
            </a:r>
          </a:p>
        </p:txBody>
      </p:sp>
      <p:sp>
        <p:nvSpPr>
          <p:cNvPr id="24" name="TextBox 23"/>
          <p:cNvSpPr txBox="1"/>
          <p:nvPr/>
        </p:nvSpPr>
        <p:spPr>
          <a:xfrm>
            <a:off x="7406640" y="3063240"/>
            <a:ext cx="1691640" cy="1920240"/>
          </a:xfrm>
          <a:prstGeom prst="rect">
            <a:avLst/>
          </a:prstGeom>
          <a:noFill/>
        </p:spPr>
        <p:txBody>
          <a:bodyPr wrap="square" anchor="t" lIns="0" rIns="0" tIns="0" bIns="0">
            <a:spAutoFit/>
          </a:bodyPr>
          <a:lstStyle/>
          <a:p>
            <a:pPr algn="l">
              <a:lnSpc>
                <a:spcPct val="110000"/>
              </a:lnSpc>
              <a:spcBef>
                <a:spcPts val="0"/>
              </a:spcBef>
              <a:spcAft>
                <a:spcPts val="400"/>
              </a:spcAft>
            </a:pPr>
            <a:r>
              <a:rPr sz="1200" b="0">
                <a:solidFill>
                  <a:srgbClr val="64748B"/>
                </a:solidFill>
                <a:latin typeface="Segoe UI"/>
              </a:rPr>
              <a:t>Server creates expiring pending action and displays approval sheet.</a:t>
            </a:r>
          </a:p>
        </p:txBody>
      </p:sp>
      <p:sp>
        <p:nvSpPr>
          <p:cNvPr id="25" name="Flow_5"/>
          <p:cNvSpPr/>
          <p:nvPr/>
        </p:nvSpPr>
        <p:spPr>
          <a:xfrm>
            <a:off x="9418320" y="2011680"/>
            <a:ext cx="1965960" cy="310896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418320" y="20116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55480" y="2240280"/>
            <a:ext cx="1691640" cy="365760"/>
          </a:xfrm>
          <a:prstGeom prst="rect">
            <a:avLst/>
          </a:prstGeom>
          <a:noFill/>
        </p:spPr>
        <p:txBody>
          <a:bodyPr wrap="square" anchor="t" lIns="0" rIns="0" tIns="0" bIns="0">
            <a:spAutoFit/>
          </a:bodyPr>
          <a:lstStyle/>
          <a:p>
            <a:pPr algn="l">
              <a:lnSpc>
                <a:spcPct val="105000"/>
              </a:lnSpc>
              <a:spcBef>
                <a:spcPts val="0"/>
              </a:spcBef>
              <a:spcAft>
                <a:spcPts val="400"/>
              </a:spcAft>
            </a:pPr>
            <a:r>
              <a:rPr sz="1400" b="1">
                <a:solidFill>
                  <a:srgbClr val="10B981"/>
                </a:solidFill>
                <a:latin typeface="Segoe UI Semibold"/>
              </a:rPr>
              <a:t>5. VERIFY</a:t>
            </a:r>
          </a:p>
        </p:txBody>
      </p:sp>
      <p:sp>
        <p:nvSpPr>
          <p:cNvPr id="28" name="TextBox 27"/>
          <p:cNvSpPr txBox="1"/>
          <p:nvPr/>
        </p:nvSpPr>
        <p:spPr>
          <a:xfrm>
            <a:off x="9555480" y="2606040"/>
            <a:ext cx="1691640" cy="365760"/>
          </a:xfrm>
          <a:prstGeom prst="rect">
            <a:avLst/>
          </a:prstGeom>
          <a:noFill/>
        </p:spPr>
        <p:txBody>
          <a:bodyPr wrap="square" anchor="t" lIns="0" rIns="0" tIns="0" bIns="0">
            <a:spAutoFit/>
          </a:bodyPr>
          <a:lstStyle/>
          <a:p>
            <a:pPr algn="l">
              <a:lnSpc>
                <a:spcPct val="105000"/>
              </a:lnSpc>
              <a:spcBef>
                <a:spcPts val="0"/>
              </a:spcBef>
              <a:spcAft>
                <a:spcPts val="400"/>
              </a:spcAft>
            </a:pPr>
            <a:r>
              <a:rPr sz="1450" b="1">
                <a:solidFill>
                  <a:srgbClr val="0F172A"/>
                </a:solidFill>
                <a:latin typeface="Segoe UI Semibold"/>
              </a:rPr>
              <a:t>WebAuthn &amp; D1</a:t>
            </a:r>
          </a:p>
        </p:txBody>
      </p:sp>
      <p:sp>
        <p:nvSpPr>
          <p:cNvPr id="29" name="TextBox 28"/>
          <p:cNvSpPr txBox="1"/>
          <p:nvPr/>
        </p:nvSpPr>
        <p:spPr>
          <a:xfrm>
            <a:off x="9555480" y="3063240"/>
            <a:ext cx="1691640" cy="1920240"/>
          </a:xfrm>
          <a:prstGeom prst="rect">
            <a:avLst/>
          </a:prstGeom>
          <a:noFill/>
        </p:spPr>
        <p:txBody>
          <a:bodyPr wrap="square" anchor="t" lIns="0" rIns="0" tIns="0" bIns="0">
            <a:spAutoFit/>
          </a:bodyPr>
          <a:lstStyle/>
          <a:p>
            <a:pPr algn="l">
              <a:lnSpc>
                <a:spcPct val="110000"/>
              </a:lnSpc>
              <a:spcBef>
                <a:spcPts val="0"/>
              </a:spcBef>
              <a:spcAft>
                <a:spcPts val="400"/>
              </a:spcAft>
            </a:pPr>
            <a:r>
              <a:rPr sz="1200" b="0">
                <a:solidFill>
                  <a:srgbClr val="64748B"/>
                </a:solidFill>
                <a:latin typeface="Segoe UI"/>
              </a:rPr>
              <a:t>User signs with hardware passkey. Server verifies and executes.</a:t>
            </a:r>
          </a:p>
        </p:txBody>
      </p:sp>
      <p:cxnSp>
        <p:nvCxnSpPr>
          <p:cNvPr id="30" name="Connector 29"/>
          <p:cNvCxnSpPr/>
          <p:nvPr/>
        </p:nvCxnSpPr>
        <p:spPr>
          <a:xfrm flipV="1">
            <a:off x="2788920" y="3566160"/>
            <a:ext cx="182880" cy="0"/>
          </a:xfrm>
          <a:prstGeom prst="bentConnector3">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937760" y="3566160"/>
            <a:ext cx="182880" cy="0"/>
          </a:xfrm>
          <a:prstGeom prst="bentConnector3">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086600" y="3566160"/>
            <a:ext cx="182880" cy="0"/>
          </a:xfrm>
          <a:prstGeom prst="bentConnector3">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235440" y="3566160"/>
            <a:ext cx="182880" cy="0"/>
          </a:xfrm>
          <a:prstGeom prst="bentConnector3">
            <a:avLst/>
          </a:prstGeom>
          <a:ln w="1905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FooterLeft"/>
          <p:cNvSpPr txBox="1"/>
          <p:nvPr/>
        </p:nvSpPr>
        <p:spPr>
          <a:xfrm>
            <a:off x="822960" y="6419088"/>
            <a:ext cx="7315200" cy="274320"/>
          </a:xfrm>
          <a:prstGeom prst="rect">
            <a:avLst/>
          </a:prstGeom>
          <a:noFill/>
        </p:spPr>
        <p:txBody>
          <a:bodyPr wrap="square" anchor="t" lIns="0" rIns="0" tIns="0" bIns="0">
            <a:spAutoFit/>
          </a:bodyPr>
          <a:lstStyle/>
          <a:p>
            <a:pPr algn="l">
              <a:lnSpc>
                <a:spcPct val="105000"/>
              </a:lnSpc>
              <a:spcBef>
                <a:spcPts val="0"/>
              </a:spcBef>
              <a:spcAft>
                <a:spcPts val="400"/>
              </a:spcAft>
            </a:pPr>
            <a:r>
              <a:rPr sz="850" b="1">
                <a:solidFill>
                  <a:srgbClr val="64748B"/>
                </a:solidFill>
                <a:latin typeface="Segoe UI Semibold"/>
              </a:rPr>
              <a:t>VOGES</a:t>
            </a:r>
            <a:r>
              <a:rPr sz="850" b="0">
                <a:solidFill>
                  <a:srgbClr val="E2E8F0"/>
                </a:solidFill>
                <a:latin typeface="Segoe UI"/>
              </a:rPr>
              <a:t>  ·  AI Agent for GoTyme Bank (Track P3)</a:t>
            </a:r>
          </a:p>
        </p:txBody>
      </p:sp>
      <p:sp>
        <p:nvSpPr>
          <p:cNvPr id="35" name="FooterRight"/>
          <p:cNvSpPr txBox="1"/>
          <p:nvPr/>
        </p:nvSpPr>
        <p:spPr>
          <a:xfrm>
            <a:off x="10424160" y="6419088"/>
            <a:ext cx="914400" cy="274320"/>
          </a:xfrm>
          <a:prstGeom prst="rect">
            <a:avLst/>
          </a:prstGeom>
          <a:noFill/>
        </p:spPr>
        <p:txBody>
          <a:bodyPr wrap="square" anchor="t" lIns="0" rIns="0" tIns="0" bIns="0">
            <a:spAutoFit/>
          </a:bodyPr>
          <a:lstStyle/>
          <a:p>
            <a:pPr algn="r">
              <a:lnSpc>
                <a:spcPct val="105000"/>
              </a:lnSpc>
              <a:spcBef>
                <a:spcPts val="0"/>
              </a:spcBef>
              <a:spcAft>
                <a:spcPts val="400"/>
              </a:spcAft>
            </a:pPr>
            <a:r>
              <a:rPr sz="900" b="1">
                <a:solidFill>
                  <a:srgbClr val="64748B"/>
                </a:solidFill>
                <a:latin typeface="Segoe UI Semibold"/>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Kicker"/>
          <p:cNvSpPr txBox="1"/>
          <p:nvPr/>
        </p:nvSpPr>
        <p:spPr>
          <a:xfrm>
            <a:off x="822960" y="566928"/>
            <a:ext cx="10515600" cy="320040"/>
          </a:xfrm>
          <a:prstGeom prst="rect">
            <a:avLst/>
          </a:prstGeom>
          <a:noFill/>
        </p:spPr>
        <p:txBody>
          <a:bodyPr wrap="square" anchor="t" lIns="0" rIns="0" tIns="0" bIns="0">
            <a:spAutoFit/>
          </a:bodyPr>
          <a:lstStyle/>
          <a:p>
            <a:pPr algn="l">
              <a:lnSpc>
                <a:spcPct val="105000"/>
              </a:lnSpc>
              <a:spcBef>
                <a:spcPts val="0"/>
              </a:spcBef>
              <a:spcAft>
                <a:spcPts val="400"/>
              </a:spcAft>
            </a:pPr>
            <a:r>
              <a:rPr sz="1100" b="1">
                <a:solidFill>
                  <a:srgbClr val="64748B"/>
                </a:solidFill>
                <a:latin typeface="Segoe UI Semibold"/>
              </a:rPr>
              <a:t>04 / WHY IT WINS</a:t>
            </a:r>
          </a:p>
        </p:txBody>
      </p:sp>
      <p:sp>
        <p:nvSpPr>
          <p:cNvPr id="3" name="AccentLine"/>
          <p:cNvSpPr/>
          <p:nvPr/>
        </p:nvSpPr>
        <p:spPr>
          <a:xfrm>
            <a:off x="822960" y="777240"/>
            <a:ext cx="5486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822960" y="841248"/>
            <a:ext cx="10515600" cy="777240"/>
          </a:xfrm>
          <a:prstGeom prst="rect">
            <a:avLst/>
          </a:prstGeom>
          <a:noFill/>
        </p:spPr>
        <p:txBody>
          <a:bodyPr wrap="square" anchor="t" lIns="0" rIns="0" tIns="0" bIns="0">
            <a:spAutoFit/>
          </a:bodyPr>
          <a:lstStyle/>
          <a:p>
            <a:pPr algn="l">
              <a:lnSpc>
                <a:spcPct val="105000"/>
              </a:lnSpc>
              <a:spcBef>
                <a:spcPts val="0"/>
              </a:spcBef>
              <a:spcAft>
                <a:spcPts val="400"/>
              </a:spcAft>
            </a:pPr>
            <a:r>
              <a:rPr sz="2800" b="1">
                <a:solidFill>
                  <a:srgbClr val="FFFFFF"/>
                </a:solidFill>
                <a:latin typeface="Segoe UI"/>
              </a:rPr>
              <a:t>Three Pillars of Zero-Trust AI Banking</a:t>
            </a:r>
          </a:p>
        </p:txBody>
      </p:sp>
      <p:sp>
        <p:nvSpPr>
          <p:cNvPr id="5" name="Pillar_1"/>
          <p:cNvSpPr/>
          <p:nvPr/>
        </p:nvSpPr>
        <p:spPr>
          <a:xfrm>
            <a:off x="822960" y="1920240"/>
            <a:ext cx="3328416" cy="3840480"/>
          </a:xfrm>
          <a:prstGeom prst="roundRect">
            <a:avLst/>
          </a:prstGeom>
          <a:solidFill>
            <a:srgbClr val="090D16"/>
          </a:solidFill>
          <a:ln w="1524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illarChip_1"/>
          <p:cNvSpPr/>
          <p:nvPr/>
        </p:nvSpPr>
        <p:spPr>
          <a:xfrm>
            <a:off x="1143000" y="2240280"/>
            <a:ext cx="2011680" cy="310896"/>
          </a:xfrm>
          <a:prstGeom prst="roundRect">
            <a:avLst>
              <a:gd name="adj" fmla="val 500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276856"/>
            <a:ext cx="2011680" cy="256032"/>
          </a:xfrm>
          <a:prstGeom prst="rect">
            <a:avLst/>
          </a:prstGeom>
          <a:noFill/>
        </p:spPr>
        <p:txBody>
          <a:bodyPr wrap="square" anchor="ctr" lIns="0" rIns="0" tIns="0" bIns="0">
            <a:spAutoFit/>
          </a:bodyPr>
          <a:lstStyle/>
          <a:p>
            <a:pPr algn="ctr">
              <a:lnSpc>
                <a:spcPct val="105000"/>
              </a:lnSpc>
              <a:spcBef>
                <a:spcPts val="0"/>
              </a:spcBef>
              <a:spcAft>
                <a:spcPts val="400"/>
              </a:spcAft>
            </a:pPr>
            <a:r>
              <a:rPr sz="1050" b="1">
                <a:solidFill>
                  <a:srgbClr val="10B981"/>
                </a:solidFill>
                <a:latin typeface="Segoe UI Semibold"/>
              </a:rPr>
              <a:t>POLICY-CONTROLLED</a:t>
            </a:r>
          </a:p>
        </p:txBody>
      </p:sp>
      <p:sp>
        <p:nvSpPr>
          <p:cNvPr id="8" name="TextBox 7"/>
          <p:cNvSpPr txBox="1"/>
          <p:nvPr/>
        </p:nvSpPr>
        <p:spPr>
          <a:xfrm>
            <a:off x="1143000" y="2788920"/>
            <a:ext cx="2688336" cy="457200"/>
          </a:xfrm>
          <a:prstGeom prst="rect">
            <a:avLst/>
          </a:prstGeom>
          <a:noFill/>
        </p:spPr>
        <p:txBody>
          <a:bodyPr wrap="square" anchor="t" lIns="0" rIns="0" tIns="0" bIns="0">
            <a:spAutoFit/>
          </a:bodyPr>
          <a:lstStyle/>
          <a:p>
            <a:pPr algn="l">
              <a:lnSpc>
                <a:spcPct val="105000"/>
              </a:lnSpc>
              <a:spcBef>
                <a:spcPts val="0"/>
              </a:spcBef>
              <a:spcAft>
                <a:spcPts val="400"/>
              </a:spcAft>
            </a:pPr>
            <a:r>
              <a:rPr sz="1800" b="1">
                <a:solidFill>
                  <a:srgbClr val="FFFFFF"/>
                </a:solidFill>
                <a:latin typeface="Segoe UI Semibold"/>
              </a:rPr>
              <a:t>Deterministic Rules</a:t>
            </a:r>
          </a:p>
        </p:txBody>
      </p:sp>
      <p:sp>
        <p:nvSpPr>
          <p:cNvPr id="9" name="TextBox 8"/>
          <p:cNvSpPr txBox="1"/>
          <p:nvPr/>
        </p:nvSpPr>
        <p:spPr>
          <a:xfrm>
            <a:off x="1143000" y="3291840"/>
            <a:ext cx="2688336" cy="2286000"/>
          </a:xfrm>
          <a:prstGeom prst="rect">
            <a:avLst/>
          </a:prstGeom>
          <a:noFill/>
        </p:spPr>
        <p:txBody>
          <a:bodyPr wrap="square" anchor="t" lIns="0" rIns="0" tIns="0" bIns="0">
            <a:spAutoFit/>
          </a:bodyPr>
          <a:lstStyle/>
          <a:p>
            <a:pPr algn="l">
              <a:lnSpc>
                <a:spcPct val="112000"/>
              </a:lnSpc>
              <a:spcBef>
                <a:spcPts val="0"/>
              </a:spcBef>
              <a:spcAft>
                <a:spcPts val="400"/>
              </a:spcAft>
            </a:pPr>
            <a:r>
              <a:rPr sz="1350" b="0">
                <a:solidFill>
                  <a:srgbClr val="94A3B8"/>
                </a:solidFill>
                <a:latin typeface="Segoe UI"/>
              </a:rPr>
              <a:t>A server-side, code-authoritative engine evaluates all actions. LLM hallucinations are physically blocked. High-risk writes like money transfers, bypass attempts, and KYC changes are rejected outright by deterministic rules.</a:t>
            </a:r>
          </a:p>
        </p:txBody>
      </p:sp>
      <p:sp>
        <p:nvSpPr>
          <p:cNvPr id="10" name="Pillar_2"/>
          <p:cNvSpPr/>
          <p:nvPr/>
        </p:nvSpPr>
        <p:spPr>
          <a:xfrm>
            <a:off x="4425696" y="1920240"/>
            <a:ext cx="3328416" cy="3840480"/>
          </a:xfrm>
          <a:prstGeom prst="roundRect">
            <a:avLst/>
          </a:prstGeom>
          <a:solidFill>
            <a:srgbClr val="090D16"/>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illarChip_2"/>
          <p:cNvSpPr/>
          <p:nvPr/>
        </p:nvSpPr>
        <p:spPr>
          <a:xfrm>
            <a:off x="4745736" y="2240280"/>
            <a:ext cx="2011680" cy="310896"/>
          </a:xfrm>
          <a:prstGeom prst="roundRect">
            <a:avLst>
              <a:gd name="adj" fmla="val 50000"/>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45736" y="2276856"/>
            <a:ext cx="2011680" cy="256032"/>
          </a:xfrm>
          <a:prstGeom prst="rect">
            <a:avLst/>
          </a:prstGeom>
          <a:noFill/>
        </p:spPr>
        <p:txBody>
          <a:bodyPr wrap="square" anchor="ctr" lIns="0" rIns="0" tIns="0" bIns="0">
            <a:spAutoFit/>
          </a:bodyPr>
          <a:lstStyle/>
          <a:p>
            <a:pPr algn="ctr">
              <a:lnSpc>
                <a:spcPct val="105000"/>
              </a:lnSpc>
              <a:spcBef>
                <a:spcPts val="0"/>
              </a:spcBef>
              <a:spcAft>
                <a:spcPts val="400"/>
              </a:spcAft>
            </a:pPr>
            <a:r>
              <a:rPr sz="1050" b="1">
                <a:solidFill>
                  <a:srgbClr val="F59E0B"/>
                </a:solidFill>
                <a:latin typeface="Segoe UI Semibold"/>
              </a:rPr>
              <a:t>PASSKEY-SECURED</a:t>
            </a:r>
          </a:p>
        </p:txBody>
      </p:sp>
      <p:sp>
        <p:nvSpPr>
          <p:cNvPr id="13" name="TextBox 12"/>
          <p:cNvSpPr txBox="1"/>
          <p:nvPr/>
        </p:nvSpPr>
        <p:spPr>
          <a:xfrm>
            <a:off x="4745736" y="2788920"/>
            <a:ext cx="2688336" cy="457200"/>
          </a:xfrm>
          <a:prstGeom prst="rect">
            <a:avLst/>
          </a:prstGeom>
          <a:noFill/>
        </p:spPr>
        <p:txBody>
          <a:bodyPr wrap="square" anchor="t" lIns="0" rIns="0" tIns="0" bIns="0">
            <a:spAutoFit/>
          </a:bodyPr>
          <a:lstStyle/>
          <a:p>
            <a:pPr algn="l">
              <a:lnSpc>
                <a:spcPct val="105000"/>
              </a:lnSpc>
              <a:spcBef>
                <a:spcPts val="0"/>
              </a:spcBef>
              <a:spcAft>
                <a:spcPts val="400"/>
              </a:spcAft>
            </a:pPr>
            <a:r>
              <a:rPr sz="1800" b="1">
                <a:solidFill>
                  <a:srgbClr val="FFFFFF"/>
                </a:solidFill>
                <a:latin typeface="Segoe UI Semibold"/>
              </a:rPr>
              <a:t>Cryptographic Identity</a:t>
            </a:r>
          </a:p>
        </p:txBody>
      </p:sp>
      <p:sp>
        <p:nvSpPr>
          <p:cNvPr id="14" name="TextBox 13"/>
          <p:cNvSpPr txBox="1"/>
          <p:nvPr/>
        </p:nvSpPr>
        <p:spPr>
          <a:xfrm>
            <a:off x="4745736" y="3291840"/>
            <a:ext cx="2688336" cy="2286000"/>
          </a:xfrm>
          <a:prstGeom prst="rect">
            <a:avLst/>
          </a:prstGeom>
          <a:noFill/>
        </p:spPr>
        <p:txBody>
          <a:bodyPr wrap="square" anchor="t" lIns="0" rIns="0" tIns="0" bIns="0">
            <a:spAutoFit/>
          </a:bodyPr>
          <a:lstStyle/>
          <a:p>
            <a:pPr algn="l">
              <a:lnSpc>
                <a:spcPct val="112000"/>
              </a:lnSpc>
              <a:spcBef>
                <a:spcPts val="0"/>
              </a:spcBef>
              <a:spcAft>
                <a:spcPts val="400"/>
              </a:spcAft>
            </a:pPr>
            <a:r>
              <a:rPr sz="1350" b="0">
                <a:solidFill>
                  <a:srgbClr val="94A3B8"/>
                </a:solidFill>
                <a:latin typeface="Segoe UI"/>
              </a:rPr>
              <a:t>Native WebAuthn integration binds sessions. The server only receives and verifies cryptographic signatures. No raw fingerprint or face data ever leaves the user's secure hardware enclave, preserving biometric privacy.</a:t>
            </a:r>
          </a:p>
        </p:txBody>
      </p:sp>
      <p:sp>
        <p:nvSpPr>
          <p:cNvPr id="15" name="Pillar_3"/>
          <p:cNvSpPr/>
          <p:nvPr/>
        </p:nvSpPr>
        <p:spPr>
          <a:xfrm>
            <a:off x="8028432" y="1920240"/>
            <a:ext cx="3328416" cy="3840480"/>
          </a:xfrm>
          <a:prstGeom prst="roundRect">
            <a:avLst/>
          </a:prstGeom>
          <a:solidFill>
            <a:srgbClr val="090D16"/>
          </a:solidFill>
          <a:ln w="1524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illarChip_3"/>
          <p:cNvSpPr/>
          <p:nvPr/>
        </p:nvSpPr>
        <p:spPr>
          <a:xfrm>
            <a:off x="8348472" y="2240280"/>
            <a:ext cx="2011680" cy="310896"/>
          </a:xfrm>
          <a:prstGeom prst="roundRect">
            <a:avLst>
              <a:gd name="adj" fmla="val 50000"/>
            </a:avLst>
          </a:prstGeom>
          <a:solidFill>
            <a:srgbClr val="FEF2F2"/>
          </a:solidFill>
          <a:ln w="127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2" y="2276856"/>
            <a:ext cx="2011680" cy="256032"/>
          </a:xfrm>
          <a:prstGeom prst="rect">
            <a:avLst/>
          </a:prstGeom>
          <a:noFill/>
        </p:spPr>
        <p:txBody>
          <a:bodyPr wrap="square" anchor="ctr" lIns="0" rIns="0" tIns="0" bIns="0">
            <a:spAutoFit/>
          </a:bodyPr>
          <a:lstStyle/>
          <a:p>
            <a:pPr algn="ctr">
              <a:lnSpc>
                <a:spcPct val="105000"/>
              </a:lnSpc>
              <a:spcBef>
                <a:spcPts val="0"/>
              </a:spcBef>
              <a:spcAft>
                <a:spcPts val="400"/>
              </a:spcAft>
            </a:pPr>
            <a:r>
              <a:rPr sz="1050" b="1">
                <a:solidFill>
                  <a:srgbClr val="EF4444"/>
                </a:solidFill>
                <a:latin typeface="Segoe UI Semibold"/>
              </a:rPr>
              <a:t>AUDIT-BACKED</a:t>
            </a:r>
          </a:p>
        </p:txBody>
      </p:sp>
      <p:sp>
        <p:nvSpPr>
          <p:cNvPr id="18" name="TextBox 17"/>
          <p:cNvSpPr txBox="1"/>
          <p:nvPr/>
        </p:nvSpPr>
        <p:spPr>
          <a:xfrm>
            <a:off x="8348472" y="2788920"/>
            <a:ext cx="2688336" cy="457200"/>
          </a:xfrm>
          <a:prstGeom prst="rect">
            <a:avLst/>
          </a:prstGeom>
          <a:noFill/>
        </p:spPr>
        <p:txBody>
          <a:bodyPr wrap="square" anchor="t" lIns="0" rIns="0" tIns="0" bIns="0">
            <a:spAutoFit/>
          </a:bodyPr>
          <a:lstStyle/>
          <a:p>
            <a:pPr algn="l">
              <a:lnSpc>
                <a:spcPct val="105000"/>
              </a:lnSpc>
              <a:spcBef>
                <a:spcPts val="0"/>
              </a:spcBef>
              <a:spcAft>
                <a:spcPts val="400"/>
              </a:spcAft>
            </a:pPr>
            <a:r>
              <a:rPr sz="1800" b="1">
                <a:solidFill>
                  <a:srgbClr val="FFFFFF"/>
                </a:solidFill>
                <a:latin typeface="Segoe UI Semibold"/>
              </a:rPr>
              <a:t>Immutable Logs</a:t>
            </a:r>
          </a:p>
        </p:txBody>
      </p:sp>
      <p:sp>
        <p:nvSpPr>
          <p:cNvPr id="19" name="TextBox 18"/>
          <p:cNvSpPr txBox="1"/>
          <p:nvPr/>
        </p:nvSpPr>
        <p:spPr>
          <a:xfrm>
            <a:off x="8348472" y="3291840"/>
            <a:ext cx="2688336" cy="2286000"/>
          </a:xfrm>
          <a:prstGeom prst="rect">
            <a:avLst/>
          </a:prstGeom>
          <a:noFill/>
        </p:spPr>
        <p:txBody>
          <a:bodyPr wrap="square" anchor="t" lIns="0" rIns="0" tIns="0" bIns="0">
            <a:spAutoFit/>
          </a:bodyPr>
          <a:lstStyle/>
          <a:p>
            <a:pPr algn="l">
              <a:lnSpc>
                <a:spcPct val="112000"/>
              </a:lnSpc>
              <a:spcBef>
                <a:spcPts val="0"/>
              </a:spcBef>
              <a:spcAft>
                <a:spcPts val="400"/>
              </a:spcAft>
            </a:pPr>
            <a:r>
              <a:rPr sz="1350" b="0">
                <a:solidFill>
                  <a:srgbClr val="94A3B8"/>
                </a:solidFill>
                <a:latin typeface="Segoe UI"/>
              </a:rPr>
              <a:t>Every speech turn, tool call, policy check, WebAuthn assertion, and database transaction outcome is recorded in an append-only, tamper-proof audit log. Perfect for compliance, debugging, and post-action review.</a:t>
            </a:r>
          </a:p>
        </p:txBody>
      </p:sp>
      <p:sp>
        <p:nvSpPr>
          <p:cNvPr id="20" name="FooterLeft"/>
          <p:cNvSpPr txBox="1"/>
          <p:nvPr/>
        </p:nvSpPr>
        <p:spPr>
          <a:xfrm>
            <a:off x="822960" y="6419088"/>
            <a:ext cx="7315200" cy="274320"/>
          </a:xfrm>
          <a:prstGeom prst="rect">
            <a:avLst/>
          </a:prstGeom>
          <a:noFill/>
        </p:spPr>
        <p:txBody>
          <a:bodyPr wrap="square" anchor="t" lIns="0" rIns="0" tIns="0" bIns="0">
            <a:spAutoFit/>
          </a:bodyPr>
          <a:lstStyle/>
          <a:p>
            <a:pPr algn="l">
              <a:lnSpc>
                <a:spcPct val="105000"/>
              </a:lnSpc>
              <a:spcBef>
                <a:spcPts val="0"/>
              </a:spcBef>
              <a:spcAft>
                <a:spcPts val="400"/>
              </a:spcAft>
            </a:pPr>
            <a:r>
              <a:rPr sz="850" b="1">
                <a:solidFill>
                  <a:srgbClr val="64748B"/>
                </a:solidFill>
                <a:latin typeface="Segoe UI Semibold"/>
              </a:rPr>
              <a:t>VOGES</a:t>
            </a:r>
            <a:r>
              <a:rPr sz="850" b="0">
                <a:solidFill>
                  <a:srgbClr val="64748B"/>
                </a:solidFill>
                <a:latin typeface="Segoe UI"/>
              </a:rPr>
              <a:t>  ·  AI Agent for GoTyme Bank (Track P3)</a:t>
            </a:r>
          </a:p>
        </p:txBody>
      </p:sp>
      <p:sp>
        <p:nvSpPr>
          <p:cNvPr id="21" name="FooterRight"/>
          <p:cNvSpPr txBox="1"/>
          <p:nvPr/>
        </p:nvSpPr>
        <p:spPr>
          <a:xfrm>
            <a:off x="10424160" y="6419088"/>
            <a:ext cx="914400" cy="274320"/>
          </a:xfrm>
          <a:prstGeom prst="rect">
            <a:avLst/>
          </a:prstGeom>
          <a:noFill/>
        </p:spPr>
        <p:txBody>
          <a:bodyPr wrap="square" anchor="t" lIns="0" rIns="0" tIns="0" bIns="0">
            <a:spAutoFit/>
          </a:bodyPr>
          <a:lstStyle/>
          <a:p>
            <a:pPr algn="r">
              <a:lnSpc>
                <a:spcPct val="105000"/>
              </a:lnSpc>
              <a:spcBef>
                <a:spcPts val="0"/>
              </a:spcBef>
              <a:spcAft>
                <a:spcPts val="400"/>
              </a:spcAft>
            </a:pPr>
            <a:r>
              <a:rPr sz="900" b="1">
                <a:solidFill>
                  <a:srgbClr val="64748B"/>
                </a:solidFill>
                <a:latin typeface="Segoe UI Semibol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822960" y="566928"/>
            <a:ext cx="10515600" cy="320040"/>
          </a:xfrm>
          <a:prstGeom prst="rect">
            <a:avLst/>
          </a:prstGeom>
          <a:noFill/>
        </p:spPr>
        <p:txBody>
          <a:bodyPr wrap="square" anchor="t" lIns="0" rIns="0" tIns="0" bIns="0">
            <a:spAutoFit/>
          </a:bodyPr>
          <a:lstStyle/>
          <a:p>
            <a:pPr algn="l">
              <a:lnSpc>
                <a:spcPct val="105000"/>
              </a:lnSpc>
              <a:spcBef>
                <a:spcPts val="0"/>
              </a:spcBef>
              <a:spcAft>
                <a:spcPts val="400"/>
              </a:spcAft>
            </a:pPr>
            <a:r>
              <a:rPr sz="1100" b="1">
                <a:solidFill>
                  <a:srgbClr val="64748B"/>
                </a:solidFill>
                <a:latin typeface="Segoe UI Semibold"/>
              </a:rPr>
              <a:t>05 / EVIDENCE + IMPACT</a:t>
            </a:r>
          </a:p>
        </p:txBody>
      </p:sp>
      <p:sp>
        <p:nvSpPr>
          <p:cNvPr id="3" name="AccentLine"/>
          <p:cNvSpPr/>
          <p:nvPr/>
        </p:nvSpPr>
        <p:spPr>
          <a:xfrm>
            <a:off x="822960" y="777240"/>
            <a:ext cx="548640" cy="38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822960" y="841248"/>
            <a:ext cx="10515600" cy="777240"/>
          </a:xfrm>
          <a:prstGeom prst="rect">
            <a:avLst/>
          </a:prstGeom>
          <a:noFill/>
        </p:spPr>
        <p:txBody>
          <a:bodyPr wrap="square" anchor="t" lIns="0" rIns="0" tIns="0" bIns="0">
            <a:spAutoFit/>
          </a:bodyPr>
          <a:lstStyle/>
          <a:p>
            <a:pPr algn="l">
              <a:lnSpc>
                <a:spcPct val="105000"/>
              </a:lnSpc>
              <a:spcBef>
                <a:spcPts val="0"/>
              </a:spcBef>
              <a:spcAft>
                <a:spcPts val="400"/>
              </a:spcAft>
            </a:pPr>
            <a:r>
              <a:rPr sz="2800" b="1">
                <a:solidFill>
                  <a:srgbClr val="0F172A"/>
                </a:solidFill>
                <a:latin typeface="Segoe UI"/>
              </a:rPr>
              <a:t>Rigorous Safety Benchmarks &amp; GoTyme Product Value</a:t>
            </a:r>
          </a:p>
        </p:txBody>
      </p:sp>
      <p:sp>
        <p:nvSpPr>
          <p:cNvPr id="5" name="Evidence_Left"/>
          <p:cNvSpPr/>
          <p:nvPr/>
        </p:nvSpPr>
        <p:spPr>
          <a:xfrm>
            <a:off x="822960" y="1920240"/>
            <a:ext cx="5029200" cy="384048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88720" y="2194560"/>
            <a:ext cx="2286000" cy="310896"/>
          </a:xfrm>
          <a:prstGeom prst="roundRect">
            <a:avLst>
              <a:gd name="adj" fmla="val 500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231136"/>
            <a:ext cx="2286000" cy="256032"/>
          </a:xfrm>
          <a:prstGeom prst="rect">
            <a:avLst/>
          </a:prstGeom>
          <a:noFill/>
        </p:spPr>
        <p:txBody>
          <a:bodyPr wrap="square" anchor="ctr" lIns="0" rIns="0" tIns="0" bIns="0">
            <a:spAutoFit/>
          </a:bodyPr>
          <a:lstStyle/>
          <a:p>
            <a:pPr algn="ctr">
              <a:lnSpc>
                <a:spcPct val="105000"/>
              </a:lnSpc>
              <a:spcBef>
                <a:spcPts val="0"/>
              </a:spcBef>
              <a:spcAft>
                <a:spcPts val="400"/>
              </a:spcAft>
            </a:pPr>
            <a:r>
              <a:rPr sz="1050" b="1">
                <a:solidFill>
                  <a:srgbClr val="10B981"/>
                </a:solidFill>
                <a:latin typeface="Segoe UI Semibold"/>
              </a:rPr>
              <a:t>SECURITY BENCHMARKING</a:t>
            </a:r>
          </a:p>
        </p:txBody>
      </p:sp>
      <p:sp>
        <p:nvSpPr>
          <p:cNvPr id="8" name="TextBox 7"/>
          <p:cNvSpPr txBox="1"/>
          <p:nvPr/>
        </p:nvSpPr>
        <p:spPr>
          <a:xfrm>
            <a:off x="1188720" y="2697480"/>
            <a:ext cx="4297680" cy="2743200"/>
          </a:xfrm>
          <a:prstGeom prst="rect">
            <a:avLst/>
          </a:prstGeom>
          <a:noFill/>
        </p:spPr>
        <p:txBody>
          <a:bodyPr wrap="square" anchor="t" lIns="0" rIns="0" tIns="0" bIns="0">
            <a:spAutoFit/>
          </a:bodyPr>
          <a:lstStyle/>
          <a:p>
            <a:pPr algn="l">
              <a:lnSpc>
                <a:spcPct val="105000"/>
              </a:lnSpc>
              <a:spcBef>
                <a:spcPts val="0"/>
              </a:spcBef>
              <a:spcAft>
                <a:spcPts val="1000"/>
              </a:spcAft>
            </a:pPr>
            <a:r>
              <a:rPr sz="1550" b="1">
                <a:solidFill>
                  <a:srgbClr val="0F172A"/>
                </a:solidFill>
                <a:latin typeface="Segoe UI Semibold"/>
              </a:rPr>
              <a:t>34 / 34 Automated Tests Pass. </a:t>
            </a:r>
            <a:r>
              <a:rPr sz="1350" b="0">
                <a:solidFill>
                  <a:srgbClr val="64748B"/>
                </a:solidFill>
                <a:latin typeface="Segoe UI"/>
              </a:rPr>
              <a:t>We run an extensive automated suite validating rules against frozen accounts, unauthorized limits, high-risk transfers, and bypass words.</a:t>
            </a:r>
          </a:p>
          <a:p>
            <a:pPr algn="l">
              <a:lnSpc>
                <a:spcPct val="105000"/>
              </a:lnSpc>
              <a:spcBef>
                <a:spcPts val="0"/>
              </a:spcBef>
              <a:spcAft>
                <a:spcPts val="1000"/>
              </a:spcAft>
            </a:pPr>
            <a:r>
              <a:rPr sz="1550" b="1">
                <a:solidFill>
                  <a:srgbClr val="0F172A"/>
                </a:solidFill>
                <a:latin typeface="Segoe UI Semibold"/>
              </a:rPr>
              <a:t>Zero Leakage of Secrets. </a:t>
            </a:r>
            <a:r>
              <a:rPr sz="1350" b="0">
                <a:solidFill>
                  <a:srgbClr val="64748B"/>
                </a:solidFill>
                <a:latin typeface="Segoe UI"/>
              </a:rPr>
              <a:t>100% success rate in deterministic filters blocking the leakage of CVV, OTP, and KYC profile details.</a:t>
            </a:r>
          </a:p>
          <a:p>
            <a:pPr algn="l">
              <a:lnSpc>
                <a:spcPct val="105000"/>
              </a:lnSpc>
              <a:spcBef>
                <a:spcPts val="0"/>
              </a:spcBef>
              <a:spcAft>
                <a:spcPts val="1000"/>
              </a:spcAft>
            </a:pPr>
            <a:r>
              <a:rPr sz="1550" b="1">
                <a:solidFill>
                  <a:srgbClr val="0F172A"/>
                </a:solidFill>
                <a:latin typeface="Segoe UI Semibold"/>
              </a:rPr>
              <a:t>Scam Risk Advisor. </a:t>
            </a:r>
            <a:r>
              <a:rPr sz="1350" b="0">
                <a:solidFill>
                  <a:srgbClr val="64748B"/>
                </a:solidFill>
                <a:latin typeface="Segoe UI"/>
              </a:rPr>
              <a:t>Built-in RAG-like check matches conversation context with scam databases to proactively advise users on potential fraud attempts.</a:t>
            </a:r>
          </a:p>
        </p:txBody>
      </p:sp>
      <p:sp>
        <p:nvSpPr>
          <p:cNvPr id="9" name="Evidence_Right"/>
          <p:cNvSpPr/>
          <p:nvPr/>
        </p:nvSpPr>
        <p:spPr>
          <a:xfrm>
            <a:off x="6309360" y="1920240"/>
            <a:ext cx="5029200" cy="384048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75120" y="2194560"/>
            <a:ext cx="2286000" cy="310896"/>
          </a:xfrm>
          <a:prstGeom prst="roundRect">
            <a:avLst>
              <a:gd name="adj" fmla="val 50000"/>
            </a:avLst>
          </a:prstGeom>
          <a:solidFill>
            <a:srgbClr val="ECFDF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2231136"/>
            <a:ext cx="2286000" cy="256032"/>
          </a:xfrm>
          <a:prstGeom prst="rect">
            <a:avLst/>
          </a:prstGeom>
          <a:noFill/>
        </p:spPr>
        <p:txBody>
          <a:bodyPr wrap="square" anchor="ctr" lIns="0" rIns="0" tIns="0" bIns="0">
            <a:spAutoFit/>
          </a:bodyPr>
          <a:lstStyle/>
          <a:p>
            <a:pPr algn="ctr">
              <a:lnSpc>
                <a:spcPct val="105000"/>
              </a:lnSpc>
              <a:spcBef>
                <a:spcPts val="0"/>
              </a:spcBef>
              <a:spcAft>
                <a:spcPts val="400"/>
              </a:spcAft>
            </a:pPr>
            <a:r>
              <a:rPr sz="1050" b="1">
                <a:solidFill>
                  <a:srgbClr val="10B981"/>
                </a:solidFill>
                <a:latin typeface="Segoe UI Semibold"/>
              </a:rPr>
              <a:t>GOTYME PRODUCT UTILITY</a:t>
            </a:r>
          </a:p>
        </p:txBody>
      </p:sp>
      <p:sp>
        <p:nvSpPr>
          <p:cNvPr id="12" name="TextBox 11"/>
          <p:cNvSpPr txBox="1"/>
          <p:nvPr/>
        </p:nvSpPr>
        <p:spPr>
          <a:xfrm>
            <a:off x="6675120" y="2697480"/>
            <a:ext cx="4297680" cy="2743200"/>
          </a:xfrm>
          <a:prstGeom prst="rect">
            <a:avLst/>
          </a:prstGeom>
          <a:noFill/>
        </p:spPr>
        <p:txBody>
          <a:bodyPr wrap="square" anchor="t" lIns="0" rIns="0" tIns="0" bIns="0">
            <a:spAutoFit/>
          </a:bodyPr>
          <a:lstStyle/>
          <a:p>
            <a:pPr algn="l">
              <a:lnSpc>
                <a:spcPct val="105000"/>
              </a:lnSpc>
              <a:spcBef>
                <a:spcPts val="0"/>
              </a:spcBef>
              <a:spcAft>
                <a:spcPts val="1000"/>
              </a:spcAft>
            </a:pPr>
            <a:r>
              <a:rPr sz="1550" b="1">
                <a:solidFill>
                  <a:srgbClr val="0F172A"/>
                </a:solidFill>
                <a:latin typeface="Segoe UI Semibold"/>
              </a:rPr>
              <a:t>90% Navigation Savings. </a:t>
            </a:r>
            <a:r>
              <a:rPr sz="1350" b="0">
                <a:solidFill>
                  <a:srgbClr val="64748B"/>
                </a:solidFill>
                <a:latin typeface="Segoe UI"/>
              </a:rPr>
              <a:t>Complex security settings (like turning on online payments) take 5 seconds of natural voice conversation compared to 1 minute of menu searching.</a:t>
            </a:r>
          </a:p>
          <a:p>
            <a:pPr algn="l">
              <a:lnSpc>
                <a:spcPct val="105000"/>
              </a:lnSpc>
              <a:spcBef>
                <a:spcPts val="0"/>
              </a:spcBef>
              <a:spcAft>
                <a:spcPts val="1000"/>
              </a:spcAft>
            </a:pPr>
            <a:r>
              <a:rPr sz="1550" b="1">
                <a:solidFill>
                  <a:srgbClr val="0F172A"/>
                </a:solidFill>
                <a:latin typeface="Segoe UI Semibold"/>
              </a:rPr>
              <a:t>Seeded Banking Scenarios. </a:t>
            </a:r>
            <a:r>
              <a:rPr sz="1350" b="0">
                <a:solidFill>
                  <a:srgbClr val="64748B"/>
                </a:solidFill>
                <a:latin typeface="Segoe UI"/>
              </a:rPr>
              <a:t>Integrated with GoTyme Everyday Account, Go Save (5% interest high-yield goals), and PAX Gold (tokenized physical gold) for real product context.</a:t>
            </a:r>
          </a:p>
          <a:p>
            <a:pPr algn="l">
              <a:lnSpc>
                <a:spcPct val="105000"/>
              </a:lnSpc>
              <a:spcBef>
                <a:spcPts val="0"/>
              </a:spcBef>
              <a:spcAft>
                <a:spcPts val="1000"/>
              </a:spcAft>
            </a:pPr>
            <a:r>
              <a:rPr sz="1550" b="1">
                <a:solidFill>
                  <a:srgbClr val="0F172A"/>
                </a:solidFill>
                <a:latin typeface="Segoe UI Semibold"/>
              </a:rPr>
              <a:t>Instant Card Printing. </a:t>
            </a:r>
            <a:r>
              <a:rPr sz="1350" b="0">
                <a:solidFill>
                  <a:srgbClr val="64748B"/>
                </a:solidFill>
                <a:latin typeface="Segoe UI"/>
              </a:rPr>
              <a:t>If a card is frozen and replaced, the app immediately generates a support ticket for physical printing at any GoTyme retail kiosk.</a:t>
            </a:r>
          </a:p>
        </p:txBody>
      </p:sp>
      <p:sp>
        <p:nvSpPr>
          <p:cNvPr id="13" name="FooterLeft"/>
          <p:cNvSpPr txBox="1"/>
          <p:nvPr/>
        </p:nvSpPr>
        <p:spPr>
          <a:xfrm>
            <a:off x="822960" y="6419088"/>
            <a:ext cx="7315200" cy="274320"/>
          </a:xfrm>
          <a:prstGeom prst="rect">
            <a:avLst/>
          </a:prstGeom>
          <a:noFill/>
        </p:spPr>
        <p:txBody>
          <a:bodyPr wrap="square" anchor="t" lIns="0" rIns="0" tIns="0" bIns="0">
            <a:spAutoFit/>
          </a:bodyPr>
          <a:lstStyle/>
          <a:p>
            <a:pPr algn="l">
              <a:lnSpc>
                <a:spcPct val="105000"/>
              </a:lnSpc>
              <a:spcBef>
                <a:spcPts val="0"/>
              </a:spcBef>
              <a:spcAft>
                <a:spcPts val="400"/>
              </a:spcAft>
            </a:pPr>
            <a:r>
              <a:rPr sz="850" b="1">
                <a:solidFill>
                  <a:srgbClr val="64748B"/>
                </a:solidFill>
                <a:latin typeface="Segoe UI Semibold"/>
              </a:rPr>
              <a:t>VOGES</a:t>
            </a:r>
            <a:r>
              <a:rPr sz="850" b="0">
                <a:solidFill>
                  <a:srgbClr val="E2E8F0"/>
                </a:solidFill>
                <a:latin typeface="Segoe UI"/>
              </a:rPr>
              <a:t>  ·  AI Agent for GoTyme Bank (Track P3)</a:t>
            </a:r>
          </a:p>
        </p:txBody>
      </p:sp>
      <p:sp>
        <p:nvSpPr>
          <p:cNvPr id="14" name="FooterRight"/>
          <p:cNvSpPr txBox="1"/>
          <p:nvPr/>
        </p:nvSpPr>
        <p:spPr>
          <a:xfrm>
            <a:off x="10424160" y="6419088"/>
            <a:ext cx="914400" cy="274320"/>
          </a:xfrm>
          <a:prstGeom prst="rect">
            <a:avLst/>
          </a:prstGeom>
          <a:noFill/>
        </p:spPr>
        <p:txBody>
          <a:bodyPr wrap="square" anchor="t" lIns="0" rIns="0" tIns="0" bIns="0">
            <a:spAutoFit/>
          </a:bodyPr>
          <a:lstStyle/>
          <a:p>
            <a:pPr algn="r">
              <a:lnSpc>
                <a:spcPct val="105000"/>
              </a:lnSpc>
              <a:spcBef>
                <a:spcPts val="0"/>
              </a:spcBef>
              <a:spcAft>
                <a:spcPts val="400"/>
              </a:spcAft>
            </a:pPr>
            <a:r>
              <a:rPr sz="900" b="1">
                <a:solidFill>
                  <a:srgbClr val="64748B"/>
                </a:solidFill>
                <a:latin typeface="Segoe UI Semibold"/>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0D16"/>
        </a:solidFill>
        <a:effectLst/>
      </p:bgPr>
    </p:bg>
    <p:spTree>
      <p:nvGrpSpPr>
        <p:cNvPr id="1" name=""/>
        <p:cNvGrpSpPr/>
        <p:nvPr/>
      </p:nvGrpSpPr>
      <p:grpSpPr/>
      <p:sp>
        <p:nvSpPr>
          <p:cNvPr id="2" name="Kicker"/>
          <p:cNvSpPr txBox="1"/>
          <p:nvPr/>
        </p:nvSpPr>
        <p:spPr>
          <a:xfrm>
            <a:off x="822960" y="566928"/>
            <a:ext cx="10515600" cy="320040"/>
          </a:xfrm>
          <a:prstGeom prst="rect">
            <a:avLst/>
          </a:prstGeom>
          <a:noFill/>
        </p:spPr>
        <p:txBody>
          <a:bodyPr wrap="square" anchor="t" lIns="0" rIns="0" tIns="0" bIns="0">
            <a:spAutoFit/>
          </a:bodyPr>
          <a:lstStyle/>
          <a:p>
            <a:pPr algn="l">
              <a:lnSpc>
                <a:spcPct val="105000"/>
              </a:lnSpc>
              <a:spcBef>
                <a:spcPts val="0"/>
              </a:spcBef>
              <a:spcAft>
                <a:spcPts val="400"/>
              </a:spcAft>
            </a:pPr>
            <a:r>
              <a:rPr sz="1100" b="1">
                <a:solidFill>
                  <a:srgbClr val="64748B"/>
                </a:solidFill>
                <a:latin typeface="Segoe UI Semibold"/>
              </a:rPr>
              <a:t>06 / DEMO + CLOSE</a:t>
            </a:r>
          </a:p>
        </p:txBody>
      </p:sp>
      <p:sp>
        <p:nvSpPr>
          <p:cNvPr id="3" name="AccentLine"/>
          <p:cNvSpPr/>
          <p:nvPr/>
        </p:nvSpPr>
        <p:spPr>
          <a:xfrm>
            <a:off x="822960" y="777240"/>
            <a:ext cx="54864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822960" y="841248"/>
            <a:ext cx="10515600" cy="777240"/>
          </a:xfrm>
          <a:prstGeom prst="rect">
            <a:avLst/>
          </a:prstGeom>
          <a:noFill/>
        </p:spPr>
        <p:txBody>
          <a:bodyPr wrap="square" anchor="t" lIns="0" rIns="0" tIns="0" bIns="0">
            <a:spAutoFit/>
          </a:bodyPr>
          <a:lstStyle/>
          <a:p>
            <a:pPr algn="l">
              <a:lnSpc>
                <a:spcPct val="105000"/>
              </a:lnSpc>
              <a:spcBef>
                <a:spcPts val="0"/>
              </a:spcBef>
              <a:spcAft>
                <a:spcPts val="400"/>
              </a:spcAft>
            </a:pPr>
            <a:r>
              <a:rPr sz="2800" b="1">
                <a:solidFill>
                  <a:srgbClr val="FFFFFF"/>
                </a:solidFill>
                <a:latin typeface="Segoe UI"/>
              </a:rPr>
              <a:t>Live 3-Step Demo &amp; Production Roadmap</a:t>
            </a:r>
          </a:p>
        </p:txBody>
      </p:sp>
      <p:sp>
        <p:nvSpPr>
          <p:cNvPr id="5" name="Demo_Left"/>
          <p:cNvSpPr/>
          <p:nvPr/>
        </p:nvSpPr>
        <p:spPr>
          <a:xfrm>
            <a:off x="822960" y="1920240"/>
            <a:ext cx="5029200" cy="3840480"/>
          </a:xfrm>
          <a:prstGeom prst="rect">
            <a:avLst/>
          </a:prstGeom>
          <a:solidFill>
            <a:srgbClr val="090D16"/>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148840"/>
            <a:ext cx="4389120" cy="365760"/>
          </a:xfrm>
          <a:prstGeom prst="rect">
            <a:avLst/>
          </a:prstGeom>
          <a:noFill/>
        </p:spPr>
        <p:txBody>
          <a:bodyPr wrap="square" anchor="t" lIns="0" rIns="0" tIns="0" bIns="0">
            <a:spAutoFit/>
          </a:bodyPr>
          <a:lstStyle/>
          <a:p>
            <a:pPr algn="l">
              <a:lnSpc>
                <a:spcPct val="105000"/>
              </a:lnSpc>
              <a:spcBef>
                <a:spcPts val="0"/>
              </a:spcBef>
              <a:spcAft>
                <a:spcPts val="400"/>
              </a:spcAft>
            </a:pPr>
            <a:r>
              <a:rPr sz="1200" b="1">
                <a:solidFill>
                  <a:srgbClr val="94A3B8"/>
                </a:solidFill>
                <a:latin typeface="Segoe UI Semibold"/>
              </a:rPr>
              <a:t>LIVE DEMO WALKTHROUGH</a:t>
            </a:r>
          </a:p>
        </p:txBody>
      </p:sp>
      <p:sp>
        <p:nvSpPr>
          <p:cNvPr id="7" name="TextBox 6"/>
          <p:cNvSpPr txBox="1"/>
          <p:nvPr/>
        </p:nvSpPr>
        <p:spPr>
          <a:xfrm>
            <a:off x="1143000" y="2606040"/>
            <a:ext cx="4389120" cy="2926080"/>
          </a:xfrm>
          <a:prstGeom prst="rect">
            <a:avLst/>
          </a:prstGeom>
          <a:noFill/>
        </p:spPr>
        <p:txBody>
          <a:bodyPr wrap="square" anchor="t" lIns="0" rIns="0" tIns="0" bIns="0">
            <a:spAutoFit/>
          </a:bodyPr>
          <a:lstStyle/>
          <a:p>
            <a:pPr algn="l">
              <a:lnSpc>
                <a:spcPct val="105000"/>
              </a:lnSpc>
              <a:spcBef>
                <a:spcPts val="0"/>
              </a:spcBef>
              <a:spcAft>
                <a:spcPts val="600"/>
              </a:spcAft>
            </a:pPr>
            <a:r>
              <a:rPr sz="1450" b="1">
                <a:solidFill>
                  <a:srgbClr val="10B981"/>
                </a:solidFill>
                <a:latin typeface="Segoe UI Semibold"/>
              </a:rPr>
              <a:t>1. READ (Green)  ·  </a:t>
            </a:r>
            <a:r>
              <a:rPr sz="1450" b="1">
                <a:solidFill>
                  <a:srgbClr val="FFFFFF"/>
                </a:solidFill>
                <a:latin typeface="Segoe UI Semibold"/>
              </a:rPr>
              <a:t>“Why was my Netflix payment declined?”</a:t>
            </a:r>
          </a:p>
          <a:p>
            <a:pPr algn="l">
              <a:lnSpc>
                <a:spcPct val="105000"/>
              </a:lnSpc>
              <a:spcBef>
                <a:spcPts val="0"/>
              </a:spcBef>
              <a:spcAft>
                <a:spcPts val="600"/>
              </a:spcAft>
            </a:pPr>
            <a:r>
              <a:rPr sz="1250" b="0">
                <a:solidFill>
                  <a:srgbClr val="94A3B8"/>
                </a:solidFill>
                <a:latin typeface="Segoe UI"/>
              </a:rPr>
              <a:t>AI reads recent transactions, diagnoses that online payments are disabled, and explains it naturally.</a:t>
            </a:r>
          </a:p>
          <a:p>
            <a:pPr algn="l">
              <a:lnSpc>
                <a:spcPct val="105000"/>
              </a:lnSpc>
              <a:spcBef>
                <a:spcPts val="0"/>
              </a:spcBef>
              <a:spcAft>
                <a:spcPts val="600"/>
              </a:spcAft>
            </a:pPr>
            <a:r>
              <a:rPr sz="1450" b="1">
                <a:solidFill>
                  <a:srgbClr val="F59E0B"/>
                </a:solidFill>
                <a:latin typeface="Segoe UI Semibold"/>
              </a:rPr>
              <a:t>2. WRITE (Amber)  ·  </a:t>
            </a:r>
            <a:r>
              <a:rPr sz="1450" b="1">
                <a:solidFill>
                  <a:srgbClr val="FFFFFF"/>
                </a:solidFill>
                <a:latin typeface="Segoe UI Semibold"/>
              </a:rPr>
              <a:t>“Enable online payments.”</a:t>
            </a:r>
          </a:p>
          <a:p>
            <a:pPr algn="l">
              <a:lnSpc>
                <a:spcPct val="105000"/>
              </a:lnSpc>
              <a:spcBef>
                <a:spcPts val="0"/>
              </a:spcBef>
              <a:spcAft>
                <a:spcPts val="600"/>
              </a:spcAft>
            </a:pPr>
            <a:r>
              <a:rPr sz="1250" b="0">
                <a:solidFill>
                  <a:srgbClr val="94A3B8"/>
                </a:solidFill>
                <a:latin typeface="Segoe UI"/>
              </a:rPr>
              <a:t>AI proposes tool. Policy approves confirmation. Approval sheet appears. User touches biometric Passkey to execute.</a:t>
            </a:r>
          </a:p>
          <a:p>
            <a:pPr algn="l">
              <a:lnSpc>
                <a:spcPct val="105000"/>
              </a:lnSpc>
              <a:spcBef>
                <a:spcPts val="0"/>
              </a:spcBef>
              <a:spcAft>
                <a:spcPts val="600"/>
              </a:spcAft>
            </a:pPr>
            <a:r>
              <a:rPr sz="1450" b="1">
                <a:solidFill>
                  <a:srgbClr val="EF4444"/>
                </a:solidFill>
                <a:latin typeface="Segoe UI Semibold"/>
              </a:rPr>
              <a:t>3. BLOCK (Red)  ·  </a:t>
            </a:r>
            <a:r>
              <a:rPr sz="1450" b="1">
                <a:solidFill>
                  <a:srgbClr val="FFFFFF"/>
                </a:solidFill>
                <a:latin typeface="Segoe UI Semibold"/>
              </a:rPr>
              <a:t>“Transfer all money without limits.”</a:t>
            </a:r>
          </a:p>
          <a:p>
            <a:pPr algn="l">
              <a:lnSpc>
                <a:spcPct val="105000"/>
              </a:lnSpc>
              <a:spcBef>
                <a:spcPts val="0"/>
              </a:spcBef>
              <a:spcAft>
                <a:spcPts val="600"/>
              </a:spcAft>
            </a:pPr>
            <a:r>
              <a:rPr sz="1250" b="0">
                <a:solidFill>
                  <a:srgbClr val="94A3B8"/>
                </a:solidFill>
                <a:latin typeface="Segoe UI"/>
              </a:rPr>
              <a:t>Policy engine immediately intercepts, blocks action, logs the threat, and AI refuses safely.</a:t>
            </a:r>
          </a:p>
        </p:txBody>
      </p:sp>
      <p:sp>
        <p:nvSpPr>
          <p:cNvPr id="8" name="Demo_Right"/>
          <p:cNvSpPr/>
          <p:nvPr/>
        </p:nvSpPr>
        <p:spPr>
          <a:xfrm>
            <a:off x="6309360" y="1920240"/>
            <a:ext cx="5029200" cy="3840480"/>
          </a:xfrm>
          <a:prstGeom prst="rect">
            <a:avLst/>
          </a:prstGeom>
          <a:solidFill>
            <a:srgbClr val="090D16"/>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2148840"/>
            <a:ext cx="4389120" cy="365760"/>
          </a:xfrm>
          <a:prstGeom prst="rect">
            <a:avLst/>
          </a:prstGeom>
          <a:noFill/>
        </p:spPr>
        <p:txBody>
          <a:bodyPr wrap="square" anchor="t" lIns="0" rIns="0" tIns="0" bIns="0">
            <a:spAutoFit/>
          </a:bodyPr>
          <a:lstStyle/>
          <a:p>
            <a:pPr algn="l">
              <a:lnSpc>
                <a:spcPct val="105000"/>
              </a:lnSpc>
              <a:spcBef>
                <a:spcPts val="0"/>
              </a:spcBef>
              <a:spcAft>
                <a:spcPts val="400"/>
              </a:spcAft>
            </a:pPr>
            <a:r>
              <a:rPr sz="1200" b="1">
                <a:solidFill>
                  <a:srgbClr val="94A3B8"/>
                </a:solidFill>
                <a:latin typeface="Segoe UI Semibold"/>
              </a:rPr>
              <a:t>ROADMAP TO PRODUCTION</a:t>
            </a:r>
          </a:p>
        </p:txBody>
      </p:sp>
      <p:sp>
        <p:nvSpPr>
          <p:cNvPr id="10" name="TextBox 9"/>
          <p:cNvSpPr txBox="1"/>
          <p:nvPr/>
        </p:nvSpPr>
        <p:spPr>
          <a:xfrm>
            <a:off x="6629400" y="2606040"/>
            <a:ext cx="4389120" cy="2926080"/>
          </a:xfrm>
          <a:prstGeom prst="rect">
            <a:avLst/>
          </a:prstGeom>
          <a:noFill/>
        </p:spPr>
        <p:txBody>
          <a:bodyPr wrap="square" anchor="t" lIns="0" rIns="0" tIns="0" bIns="0">
            <a:spAutoFit/>
          </a:bodyPr>
          <a:lstStyle/>
          <a:p>
            <a:pPr algn="l">
              <a:lnSpc>
                <a:spcPct val="105000"/>
              </a:lnSpc>
              <a:spcBef>
                <a:spcPts val="0"/>
              </a:spcBef>
              <a:spcAft>
                <a:spcPts val="1000"/>
              </a:spcAft>
            </a:pPr>
            <a:r>
              <a:rPr sz="1550" b="1">
                <a:solidFill>
                  <a:srgbClr val="FFFFFF"/>
                </a:solidFill>
                <a:latin typeface="Segoe UI Semibold"/>
              </a:rPr>
              <a:t>1. Identity Binding. </a:t>
            </a:r>
            <a:r>
              <a:rPr sz="1350" b="0">
                <a:solidFill>
                  <a:srgbClr val="94A3B8"/>
                </a:solidFill>
                <a:latin typeface="Segoe UI"/>
              </a:rPr>
              <a:t>Transition from a single hardcoded demo customer profile to dynamic customer authentication during WebRTC handshake.</a:t>
            </a:r>
          </a:p>
          <a:p>
            <a:pPr algn="l">
              <a:lnSpc>
                <a:spcPct val="105000"/>
              </a:lnSpc>
              <a:spcBef>
                <a:spcPts val="0"/>
              </a:spcBef>
              <a:spcAft>
                <a:spcPts val="1000"/>
              </a:spcAft>
            </a:pPr>
            <a:r>
              <a:rPr sz="1550" b="1">
                <a:solidFill>
                  <a:srgbClr val="FFFFFF"/>
                </a:solidFill>
                <a:latin typeface="Segoe UI Semibold"/>
              </a:rPr>
              <a:t>2. Multi-Customer Sessions. </a:t>
            </a:r>
            <a:r>
              <a:rPr sz="1350" b="0">
                <a:solidFill>
                  <a:srgbClr val="94A3B8"/>
                </a:solidFill>
                <a:latin typeface="Segoe UI"/>
              </a:rPr>
              <a:t>Add support for secure session switching and multi-account authorization boundaries once identity is bound.</a:t>
            </a:r>
          </a:p>
          <a:p>
            <a:pPr algn="l">
              <a:lnSpc>
                <a:spcPct val="105000"/>
              </a:lnSpc>
              <a:spcBef>
                <a:spcPts val="0"/>
              </a:spcBef>
              <a:spcAft>
                <a:spcPts val="1000"/>
              </a:spcAft>
            </a:pPr>
            <a:r>
              <a:rPr sz="1550" b="1">
                <a:solidFill>
                  <a:srgbClr val="FFFFFF"/>
                </a:solidFill>
                <a:latin typeface="Segoe UI Semibold"/>
              </a:rPr>
              <a:t>3. Core Banking Integration. </a:t>
            </a:r>
            <a:r>
              <a:rPr sz="1350" b="0">
                <a:solidFill>
                  <a:srgbClr val="94A3B8"/>
                </a:solidFill>
                <a:latin typeface="Segoe UI"/>
              </a:rPr>
              <a:t>Connect tool executors to real GoTyme ledgers, card hosts, and support ticket queues via secure API gateways.</a:t>
            </a:r>
          </a:p>
        </p:txBody>
      </p:sp>
      <p:sp>
        <p:nvSpPr>
          <p:cNvPr id="11" name="FooterLeft"/>
          <p:cNvSpPr txBox="1"/>
          <p:nvPr/>
        </p:nvSpPr>
        <p:spPr>
          <a:xfrm>
            <a:off x="822960" y="6419088"/>
            <a:ext cx="7315200" cy="274320"/>
          </a:xfrm>
          <a:prstGeom prst="rect">
            <a:avLst/>
          </a:prstGeom>
          <a:noFill/>
        </p:spPr>
        <p:txBody>
          <a:bodyPr wrap="square" anchor="t" lIns="0" rIns="0" tIns="0" bIns="0">
            <a:spAutoFit/>
          </a:bodyPr>
          <a:lstStyle/>
          <a:p>
            <a:pPr algn="l">
              <a:lnSpc>
                <a:spcPct val="105000"/>
              </a:lnSpc>
              <a:spcBef>
                <a:spcPts val="0"/>
              </a:spcBef>
              <a:spcAft>
                <a:spcPts val="400"/>
              </a:spcAft>
            </a:pPr>
            <a:r>
              <a:rPr sz="850" b="1">
                <a:solidFill>
                  <a:srgbClr val="64748B"/>
                </a:solidFill>
                <a:latin typeface="Segoe UI Semibold"/>
              </a:rPr>
              <a:t>VOGES</a:t>
            </a:r>
            <a:r>
              <a:rPr sz="850" b="0">
                <a:solidFill>
                  <a:srgbClr val="64748B"/>
                </a:solidFill>
                <a:latin typeface="Segoe UI"/>
              </a:rPr>
              <a:t>  ·  AI Agent for GoTyme Bank (Track P3)</a:t>
            </a:r>
          </a:p>
        </p:txBody>
      </p:sp>
      <p:sp>
        <p:nvSpPr>
          <p:cNvPr id="12" name="FooterRight"/>
          <p:cNvSpPr txBox="1"/>
          <p:nvPr/>
        </p:nvSpPr>
        <p:spPr>
          <a:xfrm>
            <a:off x="10424160" y="6419088"/>
            <a:ext cx="914400" cy="274320"/>
          </a:xfrm>
          <a:prstGeom prst="rect">
            <a:avLst/>
          </a:prstGeom>
          <a:noFill/>
        </p:spPr>
        <p:txBody>
          <a:bodyPr wrap="square" anchor="t" lIns="0" rIns="0" tIns="0" bIns="0">
            <a:spAutoFit/>
          </a:bodyPr>
          <a:lstStyle/>
          <a:p>
            <a:pPr algn="r">
              <a:lnSpc>
                <a:spcPct val="105000"/>
              </a:lnSpc>
              <a:spcBef>
                <a:spcPts val="0"/>
              </a:spcBef>
              <a:spcAft>
                <a:spcPts val="400"/>
              </a:spcAft>
            </a:pPr>
            <a:r>
              <a:rPr sz="900" b="1">
                <a:solidFill>
                  <a:srgbClr val="64748B"/>
                </a:solidFill>
                <a:latin typeface="Segoe UI Semibold"/>
              </a:rPr>
              <a:t>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