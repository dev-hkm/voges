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Mo dau ngan gon. Voges la tro ly ngan hang dieu khien bang giong noi. Cau chot: giong noi la giao dien chinh, con man hinh la lop an toan. Nhan manh day khong phai chatbot thong thuong.</a:t>
            </a:r>
          </a:p>
          <a:p/>
          <a:p>
            <a:r>
              <a:t>EN — Speaking script:</a:t>
            </a:r>
          </a:p>
          <a:p>
            <a:r>
              <a:t>This is Voges, a voice-first AI financial concierge. The one line to remember: voice is the primary interface, and the screen is the safety layer. Let me show you why that matters for banking.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Neu van de: app ngan hang nhieu menu, nguoi dung kho tim dung cho. Chatbot truyen thong chi tra loi cau hoi, khong the thuc hien hanh dong an toan. Thach thuc lon nhat cua AI tai chinh la vua huu ich vua khong nguy hiem.</a:t>
            </a:r>
          </a:p>
          <a:p/>
          <a:p>
            <a:r>
              <a:t>EN — Speaking script:</a:t>
            </a:r>
          </a:p>
          <a:p>
            <a:r>
              <a:t>Banking apps are deep and menu-heavy. Users get lost finding a single toggle. Chatbots can answer questions but cannot safely take action. The real challenge is being useful without becoming dangerous.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Giai phap: nguoi dung noi chuyen tu nhien voi AI. Voges doc du lieu ngan hang, giai thich van de, de xuat buoc tiep theo. Nhung moi hanh dong nhay cam deu bi kiem soat boi policy, approval, passkey va audit o phia backend.</a:t>
            </a:r>
          </a:p>
          <a:p/>
          <a:p>
            <a:r>
              <a:t>EN — Speaking script:</a:t>
            </a:r>
          </a:p>
          <a:p>
            <a:r>
              <a:t>Voges lets users speak naturally. It reads their banking data, explains problems, and proposes next steps. Every sensitive action is controlled server-side by policy, approval, passkey, and an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Ba khoanh khac demo: (1) cau hoi chi doc - vi sao Netflix bi tu choi; (2) hanh dong nhay cam - bat thanh toan online, di qua approval va passkey; (3) yeu cau nguy hiem - chuyen het tien va bo qua xac thuc, bi chan. Ba mau xanh/vang/do se xuat hien xuyen suot bai.</a:t>
            </a:r>
          </a:p>
          <a:p/>
          <a:p>
            <a:r>
              <a:t>EN — Speaking script:</a:t>
            </a:r>
          </a:p>
          <a:p>
            <a:r>
              <a:t>Three demo moments. A safe read-only question. A sensitive action that goes through approval and passkey. And a dangerous request that gets blocked. Watch the green, amber, and red pattern throughout.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Kien truc mot duong ong lien mach. Giong noi vao GPT Realtime, model goi tool, tool router chay backend. Policy engine quyet dinh, cong approval, WebAuthn xac thuc, thuc thi tool, ghi audit, roi tra ket qua bang giong noi. Mau vang la buoc kiem soat, mau xanh la thuc thi that.</a:t>
            </a:r>
          </a:p>
          <a:p/>
          <a:p>
            <a:r>
              <a:t>EN — Speaking script:</a:t>
            </a:r>
          </a:p>
          <a:p>
            <a:r>
              <a:t>This is the full pipeline. Voice goes into GPT Realtime, the model calls a tool, the router hits the backend. The policy engine decides, the approval gate and WebAuthn verify, the tool executes, everything is audited, and the answer comes back as voice.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Phan voice va tool calling. Voges dung GPT Realtime model gpt-realtime-2.1, ket noi bang WebRTC truc tiep tu trinh duyet. Model goi cac tool ngan hang co dinh kieu de doc du lieu that tu Cloudflare D1. Day la cac tool chi doc, khong bia so lieu.</a:t>
            </a:r>
          </a:p>
          <a:p/>
          <a:p>
            <a:r>
              <a:t>EN — Speaking script:</a:t>
            </a:r>
          </a:p>
          <a:p>
            <a:r>
              <a:t>Voges uses GPT Realtime, model gpt-realtime-2.1, connected over WebRTC straight from the browser. The model calls typed banking tools to read real data from Cloudflare D1. These read tools never invent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Lop an toan la trai tim cua Voges. AI chi de xuat, backend moi quyet dinh. Policy engine tat dinh va co tinh phan quyet: allow, confirm, passkey, hoac block. Trang thai frontend chi de hien thi. Nhung thu luon bi chan: chuyen tien, bo qua xac thuc, lo CVV/OTP, doi danh tinh KYC, tu van dau tu.</a:t>
            </a:r>
          </a:p>
          <a:p/>
          <a:p>
            <a:r>
              <a:t>EN — Speaking script:</a:t>
            </a:r>
          </a:p>
          <a:p>
            <a:r>
              <a:t>This is the heart of Voges. The AI only proposes; the backend decides. The policy engine is deterministic: allow, confirm, passkey, or block. Money transfers, verification bypass, revealing secrets, KYC identity changes, and investment advice are always blocked.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Voi hanh dong nhay cam, backend tao pending action het han. UI hien approval sheet: trang thai hien tai, trang thai moi, muc rui ro, ly do policy. Nguoi dung xac nhan, roi he dieu hanh bat passkey that. Backend xac minh chu ky WebAuthn roi moi thuc thi. Voges khong nhan du lieu van tay hay khuon mat - chi nhan mot chu ky mat ma.</a:t>
            </a:r>
          </a:p>
          <a:p/>
          <a:p>
            <a:r>
              <a:t>EN — Speaking script:</a:t>
            </a:r>
          </a:p>
          <a:p>
            <a:r>
              <a:t>For sensitive actions the backend creates an expiring pending action. The approval sheet shows the current state, the new state, the risk, and the policy reason. The user confirms, the OS runs a real passkey, and the server verifies the cryptographic assertion before executing. Voges never sees your fingerprint or face, only a signed assertion.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Audit trail: moi tool call va moi action deu duoc ghi vao log chi them. Log gom ket qua policy, pending action, xac nhan, trang thai WebAuthn, ket qua thuc thi. Ke ca yeu cau bi chan cung duoc ghi lai. Day la nen tang cho tuan thu, go loi va niem tin.</a:t>
            </a:r>
          </a:p>
          <a:p/>
          <a:p>
            <a:r>
              <a:t>EN — Speaking script:</a:t>
            </a:r>
          </a:p>
          <a:p>
            <a:r>
              <a:t>Everything is written to an append-only audit log: the policy result, the pending action, the confirmation, the passkey status, and the execution result. Even a blocked request is logged. This is what makes the system trustworthy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Sau kich ban demo: (1) giai thich giao dich bi tu choi; (2) hien giao dich gan day; (3) kiem tra KYC; (4) huong dan nap tien; (5) bat thanh toan online voi approval va passkey; (6) yeu cau nguy hiem bi chan. Bon cai dau la chi doc mau xanh, cai thu nam mau vang, cai cuoi mau do.</a:t>
            </a:r>
          </a:p>
          <a:p/>
          <a:p>
            <a:r>
              <a:t>EN — Speaking script:</a:t>
            </a:r>
          </a:p>
          <a:p>
            <a:r>
              <a:t>Six scenarios. Four safe read-only ones: explaining a decline, showing transactions, checking KYC, and funding guidance. One sensitive action with approval and passkey. And one dangerous request that gets blocked.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Diem khac biet. Chatbot truyen thong: uu tien text, tra loi FAQ, an toan hanh dong yeu, it minh bach. Voges: uu tien giong noi, dua tren tool, kiem soat bang policy, bao mat bang passkey, co audit, va dung man hinh nhu lop an toan. Do chinh la cau chot mo dau.</a:t>
            </a:r>
          </a:p>
          <a:p/>
          <a:p>
            <a:r>
              <a:t>EN — Speaking script:</a:t>
            </a:r>
          </a:p>
          <a:p>
            <a:r>
              <a:t>A traditional chatbot is text-first, answers FAQs, has weak action safety, and little visibility. Voges is voice-first, tool-based, policy-controlled, passkey-secured, audit-backed, and uses the screen as a safety layer.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VN — Ghi chu thuyet trinh:</a:t>
            </a:r>
          </a:p>
          <a:p>
            <a:r>
              <a:t>Lo trinh thang than. Gioi han demo: hien tai app dung mot khach hang demo co dinh, buoc dau tien la danh tinh xac thuc that. Sau do: chuyen doi nhieu khach hang sau khi da rang buoc danh tinh, mo rong luat policy, observability production, tich hop core ngan hang, luong chuyen nguoi that va da ngon ngu. Khong noi qua, chi noi dung nhung gi con thieu.</a:t>
            </a:r>
          </a:p>
          <a:p/>
          <a:p>
            <a:r>
              <a:t>EN — Speaking script:</a:t>
            </a:r>
          </a:p>
          <a:p>
            <a:r>
              <a:t>Let me be honest about what is next. Today the demo resolves a single customer, so real authenticated identity is the first step. After that: multi-customer switching, more policy rules, production observability, bank core integration, human escalation, and better multilingual support.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B0D"/>
        </a:solidFill>
        <a:effectLst/>
      </p:bgPr>
    </p:bg>
    <p:spTree>
      <p:nvGrpSpPr>
        <p:cNvPr id="1" name=""/>
        <p:cNvGrpSpPr/>
        <p:nvPr/>
      </p:nvGrpSpPr>
      <p:grpSpPr/>
      <p:sp>
        <p:nvSpPr>
          <p:cNvPr id="2" name="Rectangle 1"/>
          <p:cNvSpPr/>
          <p:nvPr/>
        </p:nvSpPr>
        <p:spPr>
          <a:xfrm>
            <a:off x="822960" y="822960"/>
            <a:ext cx="822960" cy="50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737360" y="822960"/>
            <a:ext cx="822960" cy="508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651760" y="822960"/>
            <a:ext cx="822960" cy="5080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10515600" cy="1463040"/>
          </a:xfrm>
          <a:prstGeom prst="rect">
            <a:avLst/>
          </a:prstGeom>
          <a:noFill/>
        </p:spPr>
        <p:txBody>
          <a:bodyPr wrap="square" anchor="t" lIns="0" rIns="0" tIns="0" bIns="0">
            <a:spAutoFit/>
          </a:bodyPr>
          <a:lstStyle/>
          <a:p>
            <a:pPr algn="l">
              <a:lnSpc>
                <a:spcPct val="100000"/>
              </a:lnSpc>
              <a:spcBef>
                <a:spcPts val="0"/>
              </a:spcBef>
              <a:spcAft>
                <a:spcPts val="600"/>
              </a:spcAft>
            </a:pPr>
            <a:r>
              <a:rPr sz="8400" b="1">
                <a:solidFill>
                  <a:srgbClr val="FFFFFF"/>
                </a:solidFill>
                <a:latin typeface="Segoe UI"/>
              </a:rPr>
              <a:t>Voges</a:t>
            </a:r>
          </a:p>
        </p:txBody>
      </p:sp>
      <p:sp>
        <p:nvSpPr>
          <p:cNvPr id="6" name="TextBox 5"/>
          <p:cNvSpPr txBox="1"/>
          <p:nvPr/>
        </p:nvSpPr>
        <p:spPr>
          <a:xfrm>
            <a:off x="868680" y="3429000"/>
            <a:ext cx="10515600" cy="640080"/>
          </a:xfrm>
          <a:prstGeom prst="rect">
            <a:avLst/>
          </a:prstGeom>
          <a:noFill/>
        </p:spPr>
        <p:txBody>
          <a:bodyPr wrap="square" anchor="t" lIns="0" rIns="0" tIns="0" bIns="0">
            <a:spAutoFit/>
          </a:bodyPr>
          <a:lstStyle/>
          <a:p>
            <a:pPr algn="l">
              <a:lnSpc>
                <a:spcPct val="100000"/>
              </a:lnSpc>
              <a:spcBef>
                <a:spcPts val="0"/>
              </a:spcBef>
              <a:spcAft>
                <a:spcPts val="600"/>
              </a:spcAft>
            </a:pPr>
            <a:r>
              <a:rPr sz="2600" b="0">
                <a:solidFill>
                  <a:srgbClr val="C9CED6"/>
                </a:solidFill>
                <a:latin typeface="Segoe UI Light"/>
              </a:rPr>
              <a:t>Voice-first AI Financial Concierge</a:t>
            </a:r>
          </a:p>
        </p:txBody>
      </p:sp>
      <p:sp>
        <p:nvSpPr>
          <p:cNvPr id="7" name="Rectangle 6"/>
          <p:cNvSpPr/>
          <p:nvPr/>
        </p:nvSpPr>
        <p:spPr>
          <a:xfrm>
            <a:off x="868680" y="4224528"/>
            <a:ext cx="502920" cy="381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434840"/>
            <a:ext cx="10058400" cy="640080"/>
          </a:xfrm>
          <a:prstGeom prst="rect">
            <a:avLst/>
          </a:prstGeom>
          <a:noFill/>
        </p:spPr>
        <p:txBody>
          <a:bodyPr wrap="square" anchor="t" lIns="0" rIns="0" tIns="0" bIns="0">
            <a:spAutoFit/>
          </a:bodyPr>
          <a:lstStyle/>
          <a:p>
            <a:pPr algn="l">
              <a:lnSpc>
                <a:spcPct val="100000"/>
              </a:lnSpc>
              <a:spcBef>
                <a:spcPts val="0"/>
              </a:spcBef>
              <a:spcAft>
                <a:spcPts val="600"/>
              </a:spcAft>
            </a:pPr>
            <a:r>
              <a:rPr sz="1800" b="1">
                <a:solidFill>
                  <a:srgbClr val="FFFFFF"/>
                </a:solidFill>
                <a:latin typeface="Segoe UI Semibold"/>
              </a:rPr>
              <a:t>Voice is the primary interface. The screen is the safety layer.</a:t>
            </a:r>
          </a:p>
        </p:txBody>
      </p:sp>
      <p:sp>
        <p:nvSpPr>
          <p:cNvPr id="9" name="TextBox 8"/>
          <p:cNvSpPr txBox="1"/>
          <p:nvPr/>
        </p:nvSpPr>
        <p:spPr>
          <a:xfrm>
            <a:off x="868680" y="59436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0">
                <a:solidFill>
                  <a:srgbClr val="6B7280"/>
                </a:solidFill>
                <a:latin typeface="Segoe UI"/>
              </a:rPr>
              <a:t>GPT Realtime  ·  WebRTC  ·  Cloudflare Pages + D1  ·  WebAuthn Passkeys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THE PROBLEM</a:t>
            </a:r>
          </a:p>
        </p:txBody>
      </p:sp>
      <p:sp>
        <p:nvSpPr>
          <p:cNvPr id="3" name="Rectangle 2"/>
          <p:cNvSpPr/>
          <p:nvPr/>
        </p:nvSpPr>
        <p:spPr>
          <a:xfrm>
            <a:off x="841248" y="868680"/>
            <a:ext cx="502920" cy="3810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Banking apps are powerful but hard to navigate</a:t>
            </a:r>
          </a:p>
        </p:txBody>
      </p:sp>
      <p:sp>
        <p:nvSpPr>
          <p:cNvPr id="5" name="Oval 4"/>
          <p:cNvSpPr/>
          <p:nvPr/>
        </p:nvSpPr>
        <p:spPr>
          <a:xfrm>
            <a:off x="868680" y="204825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1965960"/>
            <a:ext cx="10131552" cy="640080"/>
          </a:xfrm>
          <a:prstGeom prst="rect">
            <a:avLst/>
          </a:prstGeom>
          <a:noFill/>
        </p:spPr>
        <p:txBody>
          <a:bodyPr wrap="square" anchor="t" lIns="0" rIns="0" tIns="0" bIns="0">
            <a:spAutoFit/>
          </a:bodyPr>
          <a:lstStyle/>
          <a:p>
            <a:pPr algn="l">
              <a:lnSpc>
                <a:spcPct val="102000"/>
              </a:lnSpc>
              <a:spcBef>
                <a:spcPts val="0"/>
              </a:spcBef>
              <a:spcAft>
                <a:spcPts val="600"/>
              </a:spcAft>
            </a:pPr>
            <a:r>
              <a:rPr sz="1600" b="1">
                <a:solidFill>
                  <a:srgbClr val="0A0A0A"/>
                </a:solidFill>
                <a:latin typeface="Segoe UI Semibold"/>
              </a:rPr>
              <a:t>Menu overload.  </a:t>
            </a:r>
            <a:r>
              <a:rPr sz="1600" b="0">
                <a:solidFill>
                  <a:srgbClr val="6B7280"/>
                </a:solidFill>
                <a:latin typeface="Segoe UI"/>
              </a:rPr>
              <a:t>Card controls, KYC, limits and statements are buried across deep settings screens.</a:t>
            </a:r>
          </a:p>
        </p:txBody>
      </p:sp>
      <p:sp>
        <p:nvSpPr>
          <p:cNvPr id="7" name="Oval 6"/>
          <p:cNvSpPr/>
          <p:nvPr/>
        </p:nvSpPr>
        <p:spPr>
          <a:xfrm>
            <a:off x="868680" y="2761488"/>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1288" y="2679192"/>
            <a:ext cx="10131552" cy="640080"/>
          </a:xfrm>
          <a:prstGeom prst="rect">
            <a:avLst/>
          </a:prstGeom>
          <a:noFill/>
        </p:spPr>
        <p:txBody>
          <a:bodyPr wrap="square" anchor="t" lIns="0" rIns="0" tIns="0" bIns="0">
            <a:spAutoFit/>
          </a:bodyPr>
          <a:lstStyle/>
          <a:p>
            <a:pPr algn="l">
              <a:lnSpc>
                <a:spcPct val="102000"/>
              </a:lnSpc>
              <a:spcBef>
                <a:spcPts val="0"/>
              </a:spcBef>
              <a:spcAft>
                <a:spcPts val="600"/>
              </a:spcAft>
            </a:pPr>
            <a:r>
              <a:rPr sz="1600" b="1">
                <a:solidFill>
                  <a:srgbClr val="0A0A0A"/>
                </a:solidFill>
                <a:latin typeface="Segoe UI Semibold"/>
              </a:rPr>
              <a:t>Users get stuck.  </a:t>
            </a:r>
            <a:r>
              <a:rPr sz="1600" b="0">
                <a:solidFill>
                  <a:srgbClr val="6B7280"/>
                </a:solidFill>
                <a:latin typeface="Segoe UI"/>
              </a:rPr>
              <a:t>People often do not know where a setting lives, so simple tasks stall.</a:t>
            </a:r>
          </a:p>
        </p:txBody>
      </p:sp>
      <p:sp>
        <p:nvSpPr>
          <p:cNvPr id="9" name="Oval 8"/>
          <p:cNvSpPr/>
          <p:nvPr/>
        </p:nvSpPr>
        <p:spPr>
          <a:xfrm>
            <a:off x="868680" y="3474720"/>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3392424"/>
            <a:ext cx="10131552" cy="640080"/>
          </a:xfrm>
          <a:prstGeom prst="rect">
            <a:avLst/>
          </a:prstGeom>
          <a:noFill/>
        </p:spPr>
        <p:txBody>
          <a:bodyPr wrap="square" anchor="t" lIns="0" rIns="0" tIns="0" bIns="0">
            <a:spAutoFit/>
          </a:bodyPr>
          <a:lstStyle/>
          <a:p>
            <a:pPr algn="l">
              <a:lnSpc>
                <a:spcPct val="102000"/>
              </a:lnSpc>
              <a:spcBef>
                <a:spcPts val="0"/>
              </a:spcBef>
              <a:spcAft>
                <a:spcPts val="600"/>
              </a:spcAft>
            </a:pPr>
            <a:r>
              <a:rPr sz="1600" b="1">
                <a:solidFill>
                  <a:srgbClr val="0A0A0A"/>
                </a:solidFill>
                <a:latin typeface="Segoe UI Semibold"/>
              </a:rPr>
              <a:t>Chatbots only talk.  </a:t>
            </a:r>
            <a:r>
              <a:rPr sz="1600" b="0">
                <a:solidFill>
                  <a:srgbClr val="6B7280"/>
                </a:solidFill>
                <a:latin typeface="Segoe UI"/>
              </a:rPr>
              <a:t>Traditional assistants answer FAQs but cannot safely coordinate real actions.</a:t>
            </a:r>
          </a:p>
        </p:txBody>
      </p:sp>
      <p:sp>
        <p:nvSpPr>
          <p:cNvPr id="11" name="Oval 10"/>
          <p:cNvSpPr/>
          <p:nvPr/>
        </p:nvSpPr>
        <p:spPr>
          <a:xfrm>
            <a:off x="868680" y="4187952"/>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288" y="4105656"/>
            <a:ext cx="10131552" cy="640080"/>
          </a:xfrm>
          <a:prstGeom prst="rect">
            <a:avLst/>
          </a:prstGeom>
          <a:noFill/>
        </p:spPr>
        <p:txBody>
          <a:bodyPr wrap="square" anchor="t" lIns="0" rIns="0" tIns="0" bIns="0">
            <a:spAutoFit/>
          </a:bodyPr>
          <a:lstStyle/>
          <a:p>
            <a:pPr algn="l">
              <a:lnSpc>
                <a:spcPct val="102000"/>
              </a:lnSpc>
              <a:spcBef>
                <a:spcPts val="0"/>
              </a:spcBef>
              <a:spcAft>
                <a:spcPts val="600"/>
              </a:spcAft>
            </a:pPr>
            <a:r>
              <a:rPr sz="1600" b="1">
                <a:solidFill>
                  <a:srgbClr val="0A0A0A"/>
                </a:solidFill>
                <a:latin typeface="Segoe UI Semibold"/>
              </a:rPr>
              <a:t>Safety is the hard part.  </a:t>
            </a:r>
            <a:r>
              <a:rPr sz="1600" b="0">
                <a:solidFill>
                  <a:srgbClr val="6B7280"/>
                </a:solidFill>
                <a:latin typeface="Segoe UI"/>
              </a:rPr>
              <a:t>Financial AI has to be genuinely useful without ever becoming dangerous.</a:t>
            </a:r>
          </a:p>
        </p:txBody>
      </p:sp>
      <p:sp>
        <p:nvSpPr>
          <p:cNvPr id="13" name="TextBox 12"/>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14" name="TextBox 13"/>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THE SOLUTION</a:t>
            </a:r>
          </a:p>
        </p:txBody>
      </p:sp>
      <p:sp>
        <p:nvSpPr>
          <p:cNvPr id="3" name="Rectangle 2"/>
          <p:cNvSpPr/>
          <p:nvPr/>
        </p:nvSpPr>
        <p:spPr>
          <a:xfrm>
            <a:off x="841248" y="868680"/>
            <a:ext cx="502920" cy="381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Talk to your bank. The system keeps it safe.</a:t>
            </a:r>
          </a:p>
        </p:txBody>
      </p:sp>
      <p:sp>
        <p:nvSpPr>
          <p:cNvPr id="5" name="Oval 4"/>
          <p:cNvSpPr/>
          <p:nvPr/>
        </p:nvSpPr>
        <p:spPr>
          <a:xfrm>
            <a:off x="868680" y="204825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1965960"/>
            <a:ext cx="10131552" cy="640080"/>
          </a:xfrm>
          <a:prstGeom prst="rect">
            <a:avLst/>
          </a:prstGeom>
          <a:noFill/>
        </p:spPr>
        <p:txBody>
          <a:bodyPr wrap="square" anchor="t" lIns="0" rIns="0" tIns="0" bIns="0">
            <a:spAutoFit/>
          </a:bodyPr>
          <a:lstStyle/>
          <a:p>
            <a:pPr algn="l">
              <a:lnSpc>
                <a:spcPct val="102000"/>
              </a:lnSpc>
              <a:spcBef>
                <a:spcPts val="0"/>
              </a:spcBef>
              <a:spcAft>
                <a:spcPts val="600"/>
              </a:spcAft>
            </a:pPr>
            <a:r>
              <a:rPr sz="1600" b="1">
                <a:solidFill>
                  <a:srgbClr val="0A0A0A"/>
                </a:solidFill>
                <a:latin typeface="Segoe UI Semibold"/>
              </a:rPr>
              <a:t>Speak naturally.  </a:t>
            </a:r>
            <a:r>
              <a:rPr sz="1600" b="0">
                <a:solidFill>
                  <a:srgbClr val="6B7280"/>
                </a:solidFill>
                <a:latin typeface="Segoe UI"/>
              </a:rPr>
              <a:t>Users ask an AI concierge in plain language, hands-free.</a:t>
            </a:r>
          </a:p>
        </p:txBody>
      </p:sp>
      <p:sp>
        <p:nvSpPr>
          <p:cNvPr id="7" name="Oval 6"/>
          <p:cNvSpPr/>
          <p:nvPr/>
        </p:nvSpPr>
        <p:spPr>
          <a:xfrm>
            <a:off x="868680" y="2761488"/>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1288" y="2679192"/>
            <a:ext cx="10131552" cy="640080"/>
          </a:xfrm>
          <a:prstGeom prst="rect">
            <a:avLst/>
          </a:prstGeom>
          <a:noFill/>
        </p:spPr>
        <p:txBody>
          <a:bodyPr wrap="square" anchor="t" lIns="0" rIns="0" tIns="0" bIns="0">
            <a:spAutoFit/>
          </a:bodyPr>
          <a:lstStyle/>
          <a:p>
            <a:pPr algn="l">
              <a:lnSpc>
                <a:spcPct val="102000"/>
              </a:lnSpc>
              <a:spcBef>
                <a:spcPts val="0"/>
              </a:spcBef>
              <a:spcAft>
                <a:spcPts val="600"/>
              </a:spcAft>
            </a:pPr>
            <a:r>
              <a:rPr sz="1600" b="1">
                <a:solidFill>
                  <a:srgbClr val="0A0A0A"/>
                </a:solidFill>
                <a:latin typeface="Segoe UI Semibold"/>
              </a:rPr>
              <a:t>Read and explain.  </a:t>
            </a:r>
            <a:r>
              <a:rPr sz="1600" b="0">
                <a:solidFill>
                  <a:srgbClr val="6B7280"/>
                </a:solidFill>
                <a:latin typeface="Segoe UI"/>
              </a:rPr>
              <a:t>Voges reads real banking data and explains issues like a declined payment.</a:t>
            </a:r>
          </a:p>
        </p:txBody>
      </p:sp>
      <p:sp>
        <p:nvSpPr>
          <p:cNvPr id="9" name="Oval 8"/>
          <p:cNvSpPr/>
          <p:nvPr/>
        </p:nvSpPr>
        <p:spPr>
          <a:xfrm>
            <a:off x="868680" y="3474720"/>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3392424"/>
            <a:ext cx="10131552" cy="640080"/>
          </a:xfrm>
          <a:prstGeom prst="rect">
            <a:avLst/>
          </a:prstGeom>
          <a:noFill/>
        </p:spPr>
        <p:txBody>
          <a:bodyPr wrap="square" anchor="t" lIns="0" rIns="0" tIns="0" bIns="0">
            <a:spAutoFit/>
          </a:bodyPr>
          <a:lstStyle/>
          <a:p>
            <a:pPr algn="l">
              <a:lnSpc>
                <a:spcPct val="102000"/>
              </a:lnSpc>
              <a:spcBef>
                <a:spcPts val="0"/>
              </a:spcBef>
              <a:spcAft>
                <a:spcPts val="600"/>
              </a:spcAft>
            </a:pPr>
            <a:r>
              <a:rPr sz="1600" b="1">
                <a:solidFill>
                  <a:srgbClr val="0A0A0A"/>
                </a:solidFill>
                <a:latin typeface="Segoe UI Semibold"/>
              </a:rPr>
              <a:t>Propose safe steps.  </a:t>
            </a:r>
            <a:r>
              <a:rPr sz="1600" b="0">
                <a:solidFill>
                  <a:srgbClr val="6B7280"/>
                </a:solidFill>
                <a:latin typeface="Segoe UI"/>
              </a:rPr>
              <a:t>The AI proposes next actions, but never executes sensitive writes on its own.</a:t>
            </a:r>
          </a:p>
        </p:txBody>
      </p:sp>
      <p:sp>
        <p:nvSpPr>
          <p:cNvPr id="11" name="Oval 10"/>
          <p:cNvSpPr/>
          <p:nvPr/>
        </p:nvSpPr>
        <p:spPr>
          <a:xfrm>
            <a:off x="868680" y="4187952"/>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288" y="4105656"/>
            <a:ext cx="10131552" cy="640080"/>
          </a:xfrm>
          <a:prstGeom prst="rect">
            <a:avLst/>
          </a:prstGeom>
          <a:noFill/>
        </p:spPr>
        <p:txBody>
          <a:bodyPr wrap="square" anchor="t" lIns="0" rIns="0" tIns="0" bIns="0">
            <a:spAutoFit/>
          </a:bodyPr>
          <a:lstStyle/>
          <a:p>
            <a:pPr algn="l">
              <a:lnSpc>
                <a:spcPct val="102000"/>
              </a:lnSpc>
              <a:spcBef>
                <a:spcPts val="0"/>
              </a:spcBef>
              <a:spcAft>
                <a:spcPts val="600"/>
              </a:spcAft>
            </a:pPr>
            <a:r>
              <a:rPr sz="1600" b="1">
                <a:solidFill>
                  <a:srgbClr val="0A0A0A"/>
                </a:solidFill>
                <a:latin typeface="Segoe UI Semibold"/>
              </a:rPr>
              <a:t>Guarded by design.  </a:t>
            </a:r>
            <a:r>
              <a:rPr sz="1600" b="0">
                <a:solidFill>
                  <a:srgbClr val="6B7280"/>
                </a:solidFill>
                <a:latin typeface="Segoe UI"/>
              </a:rPr>
              <a:t>Policy, approval, passkey and audit control every sensitive action server-side.</a:t>
            </a:r>
          </a:p>
        </p:txBody>
      </p:sp>
      <p:sp>
        <p:nvSpPr>
          <p:cNvPr id="13" name="TextBox 12"/>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14" name="TextBox 13"/>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PRODUCT DEMO</a:t>
            </a:r>
          </a:p>
        </p:txBody>
      </p:sp>
      <p:sp>
        <p:nvSpPr>
          <p:cNvPr id="3" name="Rectangle 2"/>
          <p:cNvSpPr/>
          <p:nvPr/>
        </p:nvSpPr>
        <p:spPr>
          <a:xfrm>
            <a:off x="841248" y="868680"/>
            <a:ext cx="502920" cy="381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Three moments that tell the whole story</a:t>
            </a:r>
          </a:p>
        </p:txBody>
      </p:sp>
      <p:sp>
        <p:nvSpPr>
          <p:cNvPr id="5" name="Rectangle 4"/>
          <p:cNvSpPr/>
          <p:nvPr/>
        </p:nvSpPr>
        <p:spPr>
          <a:xfrm>
            <a:off x="868680" y="1965960"/>
            <a:ext cx="3401568" cy="3703320"/>
          </a:xfrm>
          <a:prstGeom prst="rect">
            <a:avLst/>
          </a:prstGeom>
          <a:solidFill>
            <a:srgbClr val="F6F7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965960"/>
            <a:ext cx="340156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43000" y="2286000"/>
            <a:ext cx="1737360" cy="384048"/>
          </a:xfrm>
          <a:prstGeom prst="roundRect">
            <a:avLst>
              <a:gd name="adj" fmla="val 50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327148"/>
            <a:ext cx="1737360"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150" b="1">
                <a:solidFill>
                  <a:srgbClr val="10B981"/>
                </a:solidFill>
                <a:latin typeface="Segoe UI Semibold"/>
              </a:rPr>
              <a:t>READ-ONLY</a:t>
            </a:r>
          </a:p>
        </p:txBody>
      </p:sp>
      <p:sp>
        <p:nvSpPr>
          <p:cNvPr id="9" name="TextBox 8"/>
          <p:cNvSpPr txBox="1"/>
          <p:nvPr/>
        </p:nvSpPr>
        <p:spPr>
          <a:xfrm>
            <a:off x="1143000" y="2926080"/>
            <a:ext cx="2852928" cy="1371600"/>
          </a:xfrm>
          <a:prstGeom prst="rect">
            <a:avLst/>
          </a:prstGeom>
          <a:noFill/>
        </p:spPr>
        <p:txBody>
          <a:bodyPr wrap="square" anchor="t" lIns="0" rIns="0" tIns="0" bIns="0">
            <a:spAutoFit/>
          </a:bodyPr>
          <a:lstStyle/>
          <a:p>
            <a:pPr algn="l">
              <a:lnSpc>
                <a:spcPct val="105000"/>
              </a:lnSpc>
              <a:spcBef>
                <a:spcPts val="0"/>
              </a:spcBef>
              <a:spcAft>
                <a:spcPts val="600"/>
              </a:spcAft>
            </a:pPr>
            <a:r>
              <a:rPr sz="1700" b="1">
                <a:solidFill>
                  <a:srgbClr val="0A0A0A"/>
                </a:solidFill>
                <a:latin typeface="Segoe UI Semibold"/>
              </a:rPr>
              <a:t>“Why was my Netflix payment declined?”</a:t>
            </a:r>
          </a:p>
        </p:txBody>
      </p:sp>
      <p:sp>
        <p:nvSpPr>
          <p:cNvPr id="10" name="TextBox 9"/>
          <p:cNvSpPr txBox="1"/>
          <p:nvPr/>
        </p:nvSpPr>
        <p:spPr>
          <a:xfrm>
            <a:off x="1143000" y="4343400"/>
            <a:ext cx="2852928" cy="1188720"/>
          </a:xfrm>
          <a:prstGeom prst="rect">
            <a:avLst/>
          </a:prstGeom>
          <a:noFill/>
        </p:spPr>
        <p:txBody>
          <a:bodyPr wrap="square" anchor="t" lIns="0" rIns="0" tIns="0" bIns="0">
            <a:spAutoFit/>
          </a:bodyPr>
          <a:lstStyle/>
          <a:p>
            <a:pPr algn="l">
              <a:lnSpc>
                <a:spcPct val="108000"/>
              </a:lnSpc>
              <a:spcBef>
                <a:spcPts val="0"/>
              </a:spcBef>
              <a:spcAft>
                <a:spcPts val="600"/>
              </a:spcAft>
            </a:pPr>
            <a:r>
              <a:rPr sz="1300" b="0">
                <a:solidFill>
                  <a:srgbClr val="6B7280"/>
                </a:solidFill>
                <a:latin typeface="Segoe UI"/>
              </a:rPr>
              <a:t>Voges reads recent transactions and explains the decline reason. No passkey needed.</a:t>
            </a:r>
          </a:p>
        </p:txBody>
      </p:sp>
      <p:sp>
        <p:nvSpPr>
          <p:cNvPr id="11" name="Rectangle 10"/>
          <p:cNvSpPr/>
          <p:nvPr/>
        </p:nvSpPr>
        <p:spPr>
          <a:xfrm>
            <a:off x="4434840" y="1965960"/>
            <a:ext cx="3401568" cy="3703320"/>
          </a:xfrm>
          <a:prstGeom prst="rect">
            <a:avLst/>
          </a:prstGeom>
          <a:solidFill>
            <a:srgbClr val="F6F7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34840" y="1965960"/>
            <a:ext cx="3401568"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86000"/>
            <a:ext cx="1737360" cy="384048"/>
          </a:xfrm>
          <a:prstGeom prst="roundRect">
            <a:avLst>
              <a:gd name="adj" fmla="val 50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9160" y="2327148"/>
            <a:ext cx="1737360"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150" b="1">
                <a:solidFill>
                  <a:srgbClr val="F59E0B"/>
                </a:solidFill>
                <a:latin typeface="Segoe UI Semibold"/>
              </a:rPr>
              <a:t>SENSITIVE ACTION</a:t>
            </a:r>
          </a:p>
        </p:txBody>
      </p:sp>
      <p:sp>
        <p:nvSpPr>
          <p:cNvPr id="15" name="TextBox 14"/>
          <p:cNvSpPr txBox="1"/>
          <p:nvPr/>
        </p:nvSpPr>
        <p:spPr>
          <a:xfrm>
            <a:off x="4709160" y="2926080"/>
            <a:ext cx="2852928" cy="1371600"/>
          </a:xfrm>
          <a:prstGeom prst="rect">
            <a:avLst/>
          </a:prstGeom>
          <a:noFill/>
        </p:spPr>
        <p:txBody>
          <a:bodyPr wrap="square" anchor="t" lIns="0" rIns="0" tIns="0" bIns="0">
            <a:spAutoFit/>
          </a:bodyPr>
          <a:lstStyle/>
          <a:p>
            <a:pPr algn="l">
              <a:lnSpc>
                <a:spcPct val="105000"/>
              </a:lnSpc>
              <a:spcBef>
                <a:spcPts val="0"/>
              </a:spcBef>
              <a:spcAft>
                <a:spcPts val="600"/>
              </a:spcAft>
            </a:pPr>
            <a:r>
              <a:rPr sz="1700" b="1">
                <a:solidFill>
                  <a:srgbClr val="0A0A0A"/>
                </a:solidFill>
                <a:latin typeface="Segoe UI Semibold"/>
              </a:rPr>
              <a:t>“Enable online payments for my card.”</a:t>
            </a:r>
          </a:p>
        </p:txBody>
      </p:sp>
      <p:sp>
        <p:nvSpPr>
          <p:cNvPr id="16" name="TextBox 15"/>
          <p:cNvSpPr txBox="1"/>
          <p:nvPr/>
        </p:nvSpPr>
        <p:spPr>
          <a:xfrm>
            <a:off x="4709160" y="4343400"/>
            <a:ext cx="2852928" cy="1188720"/>
          </a:xfrm>
          <a:prstGeom prst="rect">
            <a:avLst/>
          </a:prstGeom>
          <a:noFill/>
        </p:spPr>
        <p:txBody>
          <a:bodyPr wrap="square" anchor="t" lIns="0" rIns="0" tIns="0" bIns="0">
            <a:spAutoFit/>
          </a:bodyPr>
          <a:lstStyle/>
          <a:p>
            <a:pPr algn="l">
              <a:lnSpc>
                <a:spcPct val="108000"/>
              </a:lnSpc>
              <a:spcBef>
                <a:spcPts val="0"/>
              </a:spcBef>
              <a:spcAft>
                <a:spcPts val="600"/>
              </a:spcAft>
            </a:pPr>
            <a:r>
              <a:rPr sz="1300" b="0">
                <a:solidFill>
                  <a:srgbClr val="6B7280"/>
                </a:solidFill>
                <a:latin typeface="Segoe UI"/>
              </a:rPr>
              <a:t>AI proposes, policy evaluates, approval sheet appears, passkey verifies, backend executes.</a:t>
            </a:r>
          </a:p>
        </p:txBody>
      </p:sp>
      <p:sp>
        <p:nvSpPr>
          <p:cNvPr id="17" name="Rectangle 16"/>
          <p:cNvSpPr/>
          <p:nvPr/>
        </p:nvSpPr>
        <p:spPr>
          <a:xfrm>
            <a:off x="8001000" y="1965960"/>
            <a:ext cx="3401568" cy="3703320"/>
          </a:xfrm>
          <a:prstGeom prst="rect">
            <a:avLst/>
          </a:prstGeom>
          <a:solidFill>
            <a:srgbClr val="F6F7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01000" y="1965960"/>
            <a:ext cx="3401568" cy="109728"/>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75320" y="2286000"/>
            <a:ext cx="1737360" cy="384048"/>
          </a:xfrm>
          <a:prstGeom prst="roundRect">
            <a:avLst>
              <a:gd name="adj" fmla="val 50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2327148"/>
            <a:ext cx="1737360"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150" b="1">
                <a:solidFill>
                  <a:srgbClr val="EF4444"/>
                </a:solidFill>
                <a:latin typeface="Segoe UI Semibold"/>
              </a:rPr>
              <a:t>BLOCKED</a:t>
            </a:r>
          </a:p>
        </p:txBody>
      </p:sp>
      <p:sp>
        <p:nvSpPr>
          <p:cNvPr id="21" name="TextBox 20"/>
          <p:cNvSpPr txBox="1"/>
          <p:nvPr/>
        </p:nvSpPr>
        <p:spPr>
          <a:xfrm>
            <a:off x="8275320" y="2926080"/>
            <a:ext cx="2852928" cy="1371600"/>
          </a:xfrm>
          <a:prstGeom prst="rect">
            <a:avLst/>
          </a:prstGeom>
          <a:noFill/>
        </p:spPr>
        <p:txBody>
          <a:bodyPr wrap="square" anchor="t" lIns="0" rIns="0" tIns="0" bIns="0">
            <a:spAutoFit/>
          </a:bodyPr>
          <a:lstStyle/>
          <a:p>
            <a:pPr algn="l">
              <a:lnSpc>
                <a:spcPct val="105000"/>
              </a:lnSpc>
              <a:spcBef>
                <a:spcPts val="0"/>
              </a:spcBef>
              <a:spcAft>
                <a:spcPts val="600"/>
              </a:spcAft>
            </a:pPr>
            <a:r>
              <a:rPr sz="1700" b="1">
                <a:solidFill>
                  <a:srgbClr val="0A0A0A"/>
                </a:solidFill>
                <a:latin typeface="Segoe UI Semibold"/>
              </a:rPr>
              <a:t>“Transfer all my money and bypass verification.”</a:t>
            </a:r>
          </a:p>
        </p:txBody>
      </p:sp>
      <p:sp>
        <p:nvSpPr>
          <p:cNvPr id="22" name="TextBox 21"/>
          <p:cNvSpPr txBox="1"/>
          <p:nvPr/>
        </p:nvSpPr>
        <p:spPr>
          <a:xfrm>
            <a:off x="8275320" y="4343400"/>
            <a:ext cx="2852928" cy="1188720"/>
          </a:xfrm>
          <a:prstGeom prst="rect">
            <a:avLst/>
          </a:prstGeom>
          <a:noFill/>
        </p:spPr>
        <p:txBody>
          <a:bodyPr wrap="square" anchor="t" lIns="0" rIns="0" tIns="0" bIns="0">
            <a:spAutoFit/>
          </a:bodyPr>
          <a:lstStyle/>
          <a:p>
            <a:pPr algn="l">
              <a:lnSpc>
                <a:spcPct val="108000"/>
              </a:lnSpc>
              <a:spcBef>
                <a:spcPts val="0"/>
              </a:spcBef>
              <a:spcAft>
                <a:spcPts val="600"/>
              </a:spcAft>
            </a:pPr>
            <a:r>
              <a:rPr sz="1300" b="0">
                <a:solidFill>
                  <a:srgbClr val="6B7280"/>
                </a:solidFill>
                <a:latin typeface="Segoe UI"/>
              </a:rPr>
              <a:t>Policy blocks it. No executable action is created. Voges refuses safely and logs it.</a:t>
            </a:r>
          </a:p>
        </p:txBody>
      </p:sp>
      <p:sp>
        <p:nvSpPr>
          <p:cNvPr id="23" name="TextBox 22"/>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24" name="TextBox 23"/>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SYSTEM ARCHITECTURE</a:t>
            </a:r>
          </a:p>
        </p:txBody>
      </p:sp>
      <p:sp>
        <p:nvSpPr>
          <p:cNvPr id="3" name="Rectangle 2"/>
          <p:cNvSpPr/>
          <p:nvPr/>
        </p:nvSpPr>
        <p:spPr>
          <a:xfrm>
            <a:off x="841248" y="868680"/>
            <a:ext cx="502920" cy="381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One pipeline from voice to spoken result</a:t>
            </a:r>
          </a:p>
        </p:txBody>
      </p:sp>
      <p:sp>
        <p:nvSpPr>
          <p:cNvPr id="5" name="Rounded Rectangle 4"/>
          <p:cNvSpPr/>
          <p:nvPr/>
        </p:nvSpPr>
        <p:spPr>
          <a:xfrm>
            <a:off x="868680" y="2148840"/>
            <a:ext cx="2331720" cy="749808"/>
          </a:xfrm>
          <a:prstGeom prst="roundRect">
            <a:avLst>
              <a:gd name="adj" fmla="val 12000"/>
            </a:avLst>
          </a:prstGeom>
          <a:solidFill>
            <a:srgbClr val="FFFFFF"/>
          </a:solidFill>
          <a:ln w="1905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167128"/>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0A0A0A"/>
                </a:solidFill>
                <a:latin typeface="Segoe UI Semibold"/>
              </a:rPr>
              <a:t>Voice</a:t>
            </a:r>
          </a:p>
        </p:txBody>
      </p:sp>
      <p:sp>
        <p:nvSpPr>
          <p:cNvPr id="7" name="Rounded Rectangle 6"/>
          <p:cNvSpPr/>
          <p:nvPr/>
        </p:nvSpPr>
        <p:spPr>
          <a:xfrm>
            <a:off x="3584448" y="2148840"/>
            <a:ext cx="2331720" cy="749808"/>
          </a:xfrm>
          <a:prstGeom prst="roundRect">
            <a:avLst>
              <a:gd name="adj" fmla="val 12000"/>
            </a:avLst>
          </a:prstGeom>
          <a:solidFill>
            <a:srgbClr val="FFFFFF"/>
          </a:solidFill>
          <a:ln w="1905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84448" y="2167128"/>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0A0A0A"/>
                </a:solidFill>
                <a:latin typeface="Segoe UI Semibold"/>
              </a:rPr>
              <a:t>GPT Realtime</a:t>
            </a:r>
          </a:p>
        </p:txBody>
      </p:sp>
      <p:sp>
        <p:nvSpPr>
          <p:cNvPr id="9" name="Rounded Rectangle 8"/>
          <p:cNvSpPr/>
          <p:nvPr/>
        </p:nvSpPr>
        <p:spPr>
          <a:xfrm>
            <a:off x="6300216" y="2148840"/>
            <a:ext cx="2331720" cy="749808"/>
          </a:xfrm>
          <a:prstGeom prst="roundRect">
            <a:avLst>
              <a:gd name="adj" fmla="val 12000"/>
            </a:avLst>
          </a:prstGeom>
          <a:solidFill>
            <a:srgbClr val="FFFFFF"/>
          </a:solidFill>
          <a:ln w="1905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0216" y="2167128"/>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0A0A0A"/>
                </a:solidFill>
                <a:latin typeface="Segoe UI Semibold"/>
              </a:rPr>
              <a:t>Tool Router</a:t>
            </a:r>
          </a:p>
        </p:txBody>
      </p:sp>
      <p:sp>
        <p:nvSpPr>
          <p:cNvPr id="11" name="Rounded Rectangle 10"/>
          <p:cNvSpPr/>
          <p:nvPr/>
        </p:nvSpPr>
        <p:spPr>
          <a:xfrm>
            <a:off x="6300216" y="3950208"/>
            <a:ext cx="2331720" cy="749808"/>
          </a:xfrm>
          <a:prstGeom prst="roundRect">
            <a:avLst>
              <a:gd name="adj" fmla="val 12000"/>
            </a:avLst>
          </a:prstGeom>
          <a:solidFill>
            <a:srgbClr val="FFFFFF"/>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0216" y="3968496"/>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F59E0B"/>
                </a:solidFill>
                <a:latin typeface="Segoe UI Semibold"/>
              </a:rPr>
              <a:t>Policy Engine</a:t>
            </a:r>
          </a:p>
        </p:txBody>
      </p:sp>
      <p:sp>
        <p:nvSpPr>
          <p:cNvPr id="13" name="Rounded Rectangle 12"/>
          <p:cNvSpPr/>
          <p:nvPr/>
        </p:nvSpPr>
        <p:spPr>
          <a:xfrm>
            <a:off x="3584448" y="3950208"/>
            <a:ext cx="2331720" cy="749808"/>
          </a:xfrm>
          <a:prstGeom prst="roundRect">
            <a:avLst>
              <a:gd name="adj" fmla="val 12000"/>
            </a:avLst>
          </a:prstGeom>
          <a:solidFill>
            <a:srgbClr val="FFFFFF"/>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3968496"/>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F59E0B"/>
                </a:solidFill>
                <a:latin typeface="Segoe UI Semibold"/>
              </a:rPr>
              <a:t>Approval Gate</a:t>
            </a:r>
          </a:p>
        </p:txBody>
      </p:sp>
      <p:sp>
        <p:nvSpPr>
          <p:cNvPr id="15" name="Rounded Rectangle 14"/>
          <p:cNvSpPr/>
          <p:nvPr/>
        </p:nvSpPr>
        <p:spPr>
          <a:xfrm>
            <a:off x="868680" y="3950208"/>
            <a:ext cx="2331720" cy="749808"/>
          </a:xfrm>
          <a:prstGeom prst="roundRect">
            <a:avLst>
              <a:gd name="adj" fmla="val 12000"/>
            </a:avLst>
          </a:prstGeom>
          <a:solidFill>
            <a:srgbClr val="FFFFFF"/>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68496"/>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F59E0B"/>
                </a:solidFill>
                <a:latin typeface="Segoe UI Semibold"/>
              </a:rPr>
              <a:t>WebAuthn</a:t>
            </a:r>
          </a:p>
        </p:txBody>
      </p:sp>
      <p:sp>
        <p:nvSpPr>
          <p:cNvPr id="17" name="Rounded Rectangle 16"/>
          <p:cNvSpPr/>
          <p:nvPr/>
        </p:nvSpPr>
        <p:spPr>
          <a:xfrm>
            <a:off x="868680" y="5751576"/>
            <a:ext cx="2331720" cy="749808"/>
          </a:xfrm>
          <a:prstGeom prst="roundRect">
            <a:avLst>
              <a:gd name="adj" fmla="val 120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769864"/>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10B981"/>
                </a:solidFill>
                <a:latin typeface="Segoe UI Semibold"/>
              </a:rPr>
              <a:t>Execute Tool</a:t>
            </a:r>
          </a:p>
        </p:txBody>
      </p:sp>
      <p:sp>
        <p:nvSpPr>
          <p:cNvPr id="19" name="Rounded Rectangle 18"/>
          <p:cNvSpPr/>
          <p:nvPr/>
        </p:nvSpPr>
        <p:spPr>
          <a:xfrm>
            <a:off x="3584448" y="5751576"/>
            <a:ext cx="2331720" cy="749808"/>
          </a:xfrm>
          <a:prstGeom prst="roundRect">
            <a:avLst>
              <a:gd name="adj" fmla="val 12000"/>
            </a:avLst>
          </a:prstGeom>
          <a:solidFill>
            <a:srgbClr val="FFFFFF"/>
          </a:solidFill>
          <a:ln w="1905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84448" y="5769864"/>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0A0A0A"/>
                </a:solidFill>
                <a:latin typeface="Segoe UI Semibold"/>
              </a:rPr>
              <a:t>Audit Log</a:t>
            </a:r>
          </a:p>
        </p:txBody>
      </p:sp>
      <p:sp>
        <p:nvSpPr>
          <p:cNvPr id="21" name="Rounded Rectangle 20"/>
          <p:cNvSpPr/>
          <p:nvPr/>
        </p:nvSpPr>
        <p:spPr>
          <a:xfrm>
            <a:off x="6300216" y="5751576"/>
            <a:ext cx="2331720" cy="749808"/>
          </a:xfrm>
          <a:prstGeom prst="roundRect">
            <a:avLst>
              <a:gd name="adj" fmla="val 12000"/>
            </a:avLst>
          </a:prstGeom>
          <a:solidFill>
            <a:srgbClr val="FFFFFF"/>
          </a:solidFill>
          <a:ln w="1905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0216" y="5769864"/>
            <a:ext cx="2331720" cy="749808"/>
          </a:xfrm>
          <a:prstGeom prst="rect">
            <a:avLst/>
          </a:prstGeom>
          <a:noFill/>
        </p:spPr>
        <p:txBody>
          <a:bodyPr wrap="square" anchor="ctr" lIns="0" rIns="0" tIns="0" bIns="0">
            <a:spAutoFit/>
          </a:bodyPr>
          <a:lstStyle/>
          <a:p>
            <a:pPr algn="ctr">
              <a:lnSpc>
                <a:spcPct val="100000"/>
              </a:lnSpc>
              <a:spcBef>
                <a:spcPts val="0"/>
              </a:spcBef>
              <a:spcAft>
                <a:spcPts val="600"/>
              </a:spcAft>
            </a:pPr>
            <a:r>
              <a:rPr sz="1500" b="1">
                <a:solidFill>
                  <a:srgbClr val="0A0A0A"/>
                </a:solidFill>
                <a:latin typeface="Segoe UI Semibold"/>
              </a:rPr>
              <a:t>Voice Response</a:t>
            </a:r>
          </a:p>
        </p:txBody>
      </p:sp>
      <p:cxnSp>
        <p:nvCxnSpPr>
          <p:cNvPr id="23" name="Connector 22"/>
          <p:cNvCxnSpPr/>
          <p:nvPr/>
        </p:nvCxnSpPr>
        <p:spPr>
          <a:xfrm flipV="1">
            <a:off x="3200400" y="2523744"/>
            <a:ext cx="384048" cy="0"/>
          </a:xfrm>
          <a:prstGeom prst="bentConnector3">
            <a:avLst/>
          </a:prstGeom>
          <a:ln w="1905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916168" y="2523744"/>
            <a:ext cx="384048" cy="0"/>
          </a:xfrm>
          <a:prstGeom prst="bentConnector3">
            <a:avLst/>
          </a:prstGeom>
          <a:ln w="1905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7466076" y="2898648"/>
            <a:ext cx="0" cy="1051560"/>
          </a:xfrm>
          <a:prstGeom prst="bentConnector3">
            <a:avLst/>
          </a:prstGeom>
          <a:ln w="1905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5916168" y="4325112"/>
            <a:ext cx="384048" cy="0"/>
          </a:xfrm>
          <a:prstGeom prst="bentConnector3">
            <a:avLst/>
          </a:prstGeom>
          <a:ln w="1905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3200400" y="4325112"/>
            <a:ext cx="384048" cy="0"/>
          </a:xfrm>
          <a:prstGeom prst="bentConnector3">
            <a:avLst/>
          </a:prstGeom>
          <a:ln w="1905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2034540" y="4700016"/>
            <a:ext cx="0" cy="1051560"/>
          </a:xfrm>
          <a:prstGeom prst="bentConnector3">
            <a:avLst/>
          </a:prstGeom>
          <a:ln w="1905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00400" y="6126480"/>
            <a:ext cx="384048" cy="0"/>
          </a:xfrm>
          <a:prstGeom prst="bentConnector3">
            <a:avLst/>
          </a:prstGeom>
          <a:ln w="1905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16168" y="6126480"/>
            <a:ext cx="384048" cy="0"/>
          </a:xfrm>
          <a:prstGeom prst="bentConnector3">
            <a:avLst/>
          </a:prstGeom>
          <a:ln w="1905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868680" y="5879592"/>
            <a:ext cx="256032" cy="2560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5852160"/>
            <a:ext cx="2743200" cy="310896"/>
          </a:xfrm>
          <a:prstGeom prst="rect">
            <a:avLst/>
          </a:prstGeom>
          <a:noFill/>
        </p:spPr>
        <p:txBody>
          <a:bodyPr wrap="square" anchor="ctr" lIns="0" rIns="0" tIns="0" bIns="0">
            <a:spAutoFit/>
          </a:bodyPr>
          <a:lstStyle/>
          <a:p>
            <a:pPr algn="l">
              <a:lnSpc>
                <a:spcPct val="100000"/>
              </a:lnSpc>
              <a:spcBef>
                <a:spcPts val="0"/>
              </a:spcBef>
              <a:spcAft>
                <a:spcPts val="600"/>
              </a:spcAft>
            </a:pPr>
            <a:r>
              <a:rPr sz="1250" b="0">
                <a:solidFill>
                  <a:srgbClr val="6B7280"/>
                </a:solidFill>
                <a:latin typeface="Segoe UI"/>
              </a:rPr>
              <a:t>Safe / read-only</a:t>
            </a:r>
          </a:p>
        </p:txBody>
      </p:sp>
      <p:sp>
        <p:nvSpPr>
          <p:cNvPr id="33" name="Oval 32"/>
          <p:cNvSpPr/>
          <p:nvPr/>
        </p:nvSpPr>
        <p:spPr>
          <a:xfrm>
            <a:off x="3703320" y="5879592"/>
            <a:ext cx="256032" cy="2560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041648" y="5852160"/>
            <a:ext cx="2743200" cy="310896"/>
          </a:xfrm>
          <a:prstGeom prst="rect">
            <a:avLst/>
          </a:prstGeom>
          <a:noFill/>
        </p:spPr>
        <p:txBody>
          <a:bodyPr wrap="square" anchor="ctr" lIns="0" rIns="0" tIns="0" bIns="0">
            <a:spAutoFit/>
          </a:bodyPr>
          <a:lstStyle/>
          <a:p>
            <a:pPr algn="l">
              <a:lnSpc>
                <a:spcPct val="100000"/>
              </a:lnSpc>
              <a:spcBef>
                <a:spcPts val="0"/>
              </a:spcBef>
              <a:spcAft>
                <a:spcPts val="600"/>
              </a:spcAft>
            </a:pPr>
            <a:r>
              <a:rPr sz="1250" b="0">
                <a:solidFill>
                  <a:srgbClr val="6B7280"/>
                </a:solidFill>
                <a:latin typeface="Segoe UI"/>
              </a:rPr>
              <a:t>Approval + passkey</a:t>
            </a:r>
          </a:p>
        </p:txBody>
      </p:sp>
      <p:sp>
        <p:nvSpPr>
          <p:cNvPr id="35" name="Oval 34"/>
          <p:cNvSpPr/>
          <p:nvPr/>
        </p:nvSpPr>
        <p:spPr>
          <a:xfrm>
            <a:off x="6720840" y="5879592"/>
            <a:ext cx="256032" cy="256032"/>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59168" y="5852160"/>
            <a:ext cx="2743200" cy="310896"/>
          </a:xfrm>
          <a:prstGeom prst="rect">
            <a:avLst/>
          </a:prstGeom>
          <a:noFill/>
        </p:spPr>
        <p:txBody>
          <a:bodyPr wrap="square" anchor="ctr" lIns="0" rIns="0" tIns="0" bIns="0">
            <a:spAutoFit/>
          </a:bodyPr>
          <a:lstStyle/>
          <a:p>
            <a:pPr algn="l">
              <a:lnSpc>
                <a:spcPct val="100000"/>
              </a:lnSpc>
              <a:spcBef>
                <a:spcPts val="0"/>
              </a:spcBef>
              <a:spcAft>
                <a:spcPts val="600"/>
              </a:spcAft>
            </a:pPr>
            <a:r>
              <a:rPr sz="1250" b="0">
                <a:solidFill>
                  <a:srgbClr val="6B7280"/>
                </a:solidFill>
                <a:latin typeface="Segoe UI"/>
              </a:rPr>
              <a:t>Blocked / high risk</a:t>
            </a:r>
          </a:p>
        </p:txBody>
      </p:sp>
      <p:sp>
        <p:nvSpPr>
          <p:cNvPr id="37" name="TextBox 36"/>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38" name="TextBox 37"/>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VOICE + TOOL CALLING</a:t>
            </a:r>
          </a:p>
        </p:txBody>
      </p:sp>
      <p:sp>
        <p:nvSpPr>
          <p:cNvPr id="3" name="Rectangle 2"/>
          <p:cNvSpPr/>
          <p:nvPr/>
        </p:nvSpPr>
        <p:spPr>
          <a:xfrm>
            <a:off x="841248" y="868680"/>
            <a:ext cx="502920" cy="381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Real-time voice that can read real data</a:t>
            </a:r>
          </a:p>
        </p:txBody>
      </p:sp>
      <p:sp>
        <p:nvSpPr>
          <p:cNvPr id="5" name="Oval 4"/>
          <p:cNvSpPr/>
          <p:nvPr/>
        </p:nvSpPr>
        <p:spPr>
          <a:xfrm>
            <a:off x="868680" y="209397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011680"/>
            <a:ext cx="5193792" cy="640080"/>
          </a:xfrm>
          <a:prstGeom prst="rect">
            <a:avLst/>
          </a:prstGeom>
          <a:noFill/>
        </p:spPr>
        <p:txBody>
          <a:bodyPr wrap="square" anchor="t" lIns="0" rIns="0" tIns="0" bIns="0">
            <a:spAutoFit/>
          </a:bodyPr>
          <a:lstStyle/>
          <a:p>
            <a:pPr algn="l">
              <a:lnSpc>
                <a:spcPct val="102000"/>
              </a:lnSpc>
              <a:spcBef>
                <a:spcPts val="0"/>
              </a:spcBef>
              <a:spcAft>
                <a:spcPts val="600"/>
              </a:spcAft>
            </a:pPr>
            <a:r>
              <a:rPr sz="1550" b="1">
                <a:solidFill>
                  <a:srgbClr val="0A0A0A"/>
                </a:solidFill>
                <a:latin typeface="Segoe UI Semibold"/>
              </a:rPr>
              <a:t>GPT Realtime.  </a:t>
            </a:r>
            <a:r>
              <a:rPr sz="1550" b="0">
                <a:solidFill>
                  <a:srgbClr val="6B7280"/>
                </a:solidFill>
                <a:latin typeface="Segoe UI"/>
              </a:rPr>
              <a:t>Model gpt-realtime-2.1 drives the conversation.</a:t>
            </a:r>
          </a:p>
        </p:txBody>
      </p:sp>
      <p:sp>
        <p:nvSpPr>
          <p:cNvPr id="7" name="Oval 6"/>
          <p:cNvSpPr/>
          <p:nvPr/>
        </p:nvSpPr>
        <p:spPr>
          <a:xfrm>
            <a:off x="868680" y="2843784"/>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1288" y="2761488"/>
            <a:ext cx="5193792" cy="640080"/>
          </a:xfrm>
          <a:prstGeom prst="rect">
            <a:avLst/>
          </a:prstGeom>
          <a:noFill/>
        </p:spPr>
        <p:txBody>
          <a:bodyPr wrap="square" anchor="t" lIns="0" rIns="0" tIns="0" bIns="0">
            <a:spAutoFit/>
          </a:bodyPr>
          <a:lstStyle/>
          <a:p>
            <a:pPr algn="l">
              <a:lnSpc>
                <a:spcPct val="102000"/>
              </a:lnSpc>
              <a:spcBef>
                <a:spcPts val="0"/>
              </a:spcBef>
              <a:spcAft>
                <a:spcPts val="600"/>
              </a:spcAft>
            </a:pPr>
            <a:r>
              <a:rPr sz="1550" b="1">
                <a:solidFill>
                  <a:srgbClr val="0A0A0A"/>
                </a:solidFill>
                <a:latin typeface="Segoe UI Semibold"/>
              </a:rPr>
              <a:t>WebRTC.  </a:t>
            </a:r>
            <a:r>
              <a:rPr sz="1550" b="0">
                <a:solidFill>
                  <a:srgbClr val="6B7280"/>
                </a:solidFill>
                <a:latin typeface="Segoe UI"/>
              </a:rPr>
              <a:t>The browser streams audio directly over a peer connection.</a:t>
            </a:r>
          </a:p>
        </p:txBody>
      </p:sp>
      <p:sp>
        <p:nvSpPr>
          <p:cNvPr id="9" name="Oval 8"/>
          <p:cNvSpPr/>
          <p:nvPr/>
        </p:nvSpPr>
        <p:spPr>
          <a:xfrm>
            <a:off x="868680" y="3593592"/>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3511296"/>
            <a:ext cx="5193792" cy="640080"/>
          </a:xfrm>
          <a:prstGeom prst="rect">
            <a:avLst/>
          </a:prstGeom>
          <a:noFill/>
        </p:spPr>
        <p:txBody>
          <a:bodyPr wrap="square" anchor="t" lIns="0" rIns="0" tIns="0" bIns="0">
            <a:spAutoFit/>
          </a:bodyPr>
          <a:lstStyle/>
          <a:p>
            <a:pPr algn="l">
              <a:lnSpc>
                <a:spcPct val="102000"/>
              </a:lnSpc>
              <a:spcBef>
                <a:spcPts val="0"/>
              </a:spcBef>
              <a:spcAft>
                <a:spcPts val="600"/>
              </a:spcAft>
            </a:pPr>
            <a:r>
              <a:rPr sz="1550" b="1">
                <a:solidFill>
                  <a:srgbClr val="0A0A0A"/>
                </a:solidFill>
                <a:latin typeface="Segoe UI Semibold"/>
              </a:rPr>
              <a:t>Tool calling.  </a:t>
            </a:r>
            <a:r>
              <a:rPr sz="1550" b="0">
                <a:solidFill>
                  <a:srgbClr val="6B7280"/>
                </a:solidFill>
                <a:latin typeface="Segoe UI"/>
              </a:rPr>
              <a:t>The model calls typed banking tools when it needs data.</a:t>
            </a:r>
          </a:p>
        </p:txBody>
      </p:sp>
      <p:sp>
        <p:nvSpPr>
          <p:cNvPr id="11" name="Oval 10"/>
          <p:cNvSpPr/>
          <p:nvPr/>
        </p:nvSpPr>
        <p:spPr>
          <a:xfrm>
            <a:off x="868680" y="4343400"/>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288" y="4261104"/>
            <a:ext cx="5193792" cy="640080"/>
          </a:xfrm>
          <a:prstGeom prst="rect">
            <a:avLst/>
          </a:prstGeom>
          <a:noFill/>
        </p:spPr>
        <p:txBody>
          <a:bodyPr wrap="square" anchor="t" lIns="0" rIns="0" tIns="0" bIns="0">
            <a:spAutoFit/>
          </a:bodyPr>
          <a:lstStyle/>
          <a:p>
            <a:pPr algn="l">
              <a:lnSpc>
                <a:spcPct val="102000"/>
              </a:lnSpc>
              <a:spcBef>
                <a:spcPts val="0"/>
              </a:spcBef>
              <a:spcAft>
                <a:spcPts val="600"/>
              </a:spcAft>
            </a:pPr>
            <a:r>
              <a:rPr sz="1550" b="1">
                <a:solidFill>
                  <a:srgbClr val="0A0A0A"/>
                </a:solidFill>
                <a:latin typeface="Segoe UI Semibold"/>
              </a:rPr>
              <a:t>Cloudflare D1.  </a:t>
            </a:r>
            <a:r>
              <a:rPr sz="1550" b="0">
                <a:solidFill>
                  <a:srgbClr val="6B7280"/>
                </a:solidFill>
                <a:latin typeface="Segoe UI"/>
              </a:rPr>
              <a:t>Tools read real demo data, never invented numbers.</a:t>
            </a:r>
          </a:p>
        </p:txBody>
      </p:sp>
      <p:sp>
        <p:nvSpPr>
          <p:cNvPr id="13" name="Rectangle 12"/>
          <p:cNvSpPr/>
          <p:nvPr/>
        </p:nvSpPr>
        <p:spPr>
          <a:xfrm>
            <a:off x="6629400" y="1920240"/>
            <a:ext cx="4663440" cy="3840480"/>
          </a:xfrm>
          <a:prstGeom prst="rect">
            <a:avLst/>
          </a:prstGeom>
          <a:solidFill>
            <a:srgbClr val="F6F7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2121408"/>
            <a:ext cx="402336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a:solidFill>
                  <a:srgbClr val="6B7280"/>
                </a:solidFill>
                <a:latin typeface="Segoe UI Semibold"/>
              </a:rPr>
              <a:t>READ-ONLY BANKING TOOLS</a:t>
            </a:r>
          </a:p>
        </p:txBody>
      </p:sp>
      <p:sp>
        <p:nvSpPr>
          <p:cNvPr id="15" name="Oval 14"/>
          <p:cNvSpPr/>
          <p:nvPr/>
        </p:nvSpPr>
        <p:spPr>
          <a:xfrm>
            <a:off x="6949440" y="2706624"/>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2606040"/>
            <a:ext cx="3749040" cy="365760"/>
          </a:xfrm>
          <a:prstGeom prst="rect">
            <a:avLst/>
          </a:prstGeom>
          <a:noFill/>
        </p:spPr>
        <p:txBody>
          <a:bodyPr wrap="square" anchor="t" lIns="0" rIns="0" tIns="0" bIns="0">
            <a:spAutoFit/>
          </a:bodyPr>
          <a:lstStyle/>
          <a:p>
            <a:pPr algn="l">
              <a:lnSpc>
                <a:spcPct val="100000"/>
              </a:lnSpc>
              <a:spcBef>
                <a:spcPts val="0"/>
              </a:spcBef>
              <a:spcAft>
                <a:spcPts val="600"/>
              </a:spcAft>
            </a:pPr>
            <a:r>
              <a:rPr sz="1450" b="0">
                <a:solidFill>
                  <a:srgbClr val="0A0A0A"/>
                </a:solidFill>
                <a:latin typeface="Consolas"/>
              </a:rPr>
              <a:t>getCustomerProfile( )</a:t>
            </a:r>
          </a:p>
        </p:txBody>
      </p:sp>
      <p:sp>
        <p:nvSpPr>
          <p:cNvPr id="17" name="Oval 16"/>
          <p:cNvSpPr/>
          <p:nvPr/>
        </p:nvSpPr>
        <p:spPr>
          <a:xfrm>
            <a:off x="6949440" y="3182112"/>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78040" y="3081528"/>
            <a:ext cx="3749040" cy="365760"/>
          </a:xfrm>
          <a:prstGeom prst="rect">
            <a:avLst/>
          </a:prstGeom>
          <a:noFill/>
        </p:spPr>
        <p:txBody>
          <a:bodyPr wrap="square" anchor="t" lIns="0" rIns="0" tIns="0" bIns="0">
            <a:spAutoFit/>
          </a:bodyPr>
          <a:lstStyle/>
          <a:p>
            <a:pPr algn="l">
              <a:lnSpc>
                <a:spcPct val="100000"/>
              </a:lnSpc>
              <a:spcBef>
                <a:spcPts val="0"/>
              </a:spcBef>
              <a:spcAft>
                <a:spcPts val="600"/>
              </a:spcAft>
            </a:pPr>
            <a:r>
              <a:rPr sz="1450" b="0">
                <a:solidFill>
                  <a:srgbClr val="0A0A0A"/>
                </a:solidFill>
                <a:latin typeface="Consolas"/>
              </a:rPr>
              <a:t>getRecentTransactions( )</a:t>
            </a:r>
          </a:p>
        </p:txBody>
      </p:sp>
      <p:sp>
        <p:nvSpPr>
          <p:cNvPr id="19" name="Oval 18"/>
          <p:cNvSpPr/>
          <p:nvPr/>
        </p:nvSpPr>
        <p:spPr>
          <a:xfrm>
            <a:off x="6949440" y="3657600"/>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3557016"/>
            <a:ext cx="3749040" cy="365760"/>
          </a:xfrm>
          <a:prstGeom prst="rect">
            <a:avLst/>
          </a:prstGeom>
          <a:noFill/>
        </p:spPr>
        <p:txBody>
          <a:bodyPr wrap="square" anchor="t" lIns="0" rIns="0" tIns="0" bIns="0">
            <a:spAutoFit/>
          </a:bodyPr>
          <a:lstStyle/>
          <a:p>
            <a:pPr algn="l">
              <a:lnSpc>
                <a:spcPct val="100000"/>
              </a:lnSpc>
              <a:spcBef>
                <a:spcPts val="0"/>
              </a:spcBef>
              <a:spcAft>
                <a:spcPts val="600"/>
              </a:spcAft>
            </a:pPr>
            <a:r>
              <a:rPr sz="1450" b="0">
                <a:solidFill>
                  <a:srgbClr val="0A0A0A"/>
                </a:solidFill>
                <a:latin typeface="Consolas"/>
              </a:rPr>
              <a:t>getCardStatus( )</a:t>
            </a:r>
          </a:p>
        </p:txBody>
      </p:sp>
      <p:sp>
        <p:nvSpPr>
          <p:cNvPr id="21" name="Oval 20"/>
          <p:cNvSpPr/>
          <p:nvPr/>
        </p:nvSpPr>
        <p:spPr>
          <a:xfrm>
            <a:off x="6949440" y="4133088"/>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8040" y="4032504"/>
            <a:ext cx="3749040" cy="365760"/>
          </a:xfrm>
          <a:prstGeom prst="rect">
            <a:avLst/>
          </a:prstGeom>
          <a:noFill/>
        </p:spPr>
        <p:txBody>
          <a:bodyPr wrap="square" anchor="t" lIns="0" rIns="0" tIns="0" bIns="0">
            <a:spAutoFit/>
          </a:bodyPr>
          <a:lstStyle/>
          <a:p>
            <a:pPr algn="l">
              <a:lnSpc>
                <a:spcPct val="100000"/>
              </a:lnSpc>
              <a:spcBef>
                <a:spcPts val="0"/>
              </a:spcBef>
              <a:spcAft>
                <a:spcPts val="600"/>
              </a:spcAft>
            </a:pPr>
            <a:r>
              <a:rPr sz="1450" b="0">
                <a:solidFill>
                  <a:srgbClr val="0A0A0A"/>
                </a:solidFill>
                <a:latin typeface="Consolas"/>
              </a:rPr>
              <a:t>getKycStatus( )</a:t>
            </a:r>
          </a:p>
        </p:txBody>
      </p:sp>
      <p:sp>
        <p:nvSpPr>
          <p:cNvPr id="23" name="Oval 22"/>
          <p:cNvSpPr/>
          <p:nvPr/>
        </p:nvSpPr>
        <p:spPr>
          <a:xfrm>
            <a:off x="6949440" y="4608576"/>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78040" y="4507992"/>
            <a:ext cx="3749040" cy="365760"/>
          </a:xfrm>
          <a:prstGeom prst="rect">
            <a:avLst/>
          </a:prstGeom>
          <a:noFill/>
        </p:spPr>
        <p:txBody>
          <a:bodyPr wrap="square" anchor="t" lIns="0" rIns="0" tIns="0" bIns="0">
            <a:spAutoFit/>
          </a:bodyPr>
          <a:lstStyle/>
          <a:p>
            <a:pPr algn="l">
              <a:lnSpc>
                <a:spcPct val="100000"/>
              </a:lnSpc>
              <a:spcBef>
                <a:spcPts val="0"/>
              </a:spcBef>
              <a:spcAft>
                <a:spcPts val="600"/>
              </a:spcAft>
            </a:pPr>
            <a:r>
              <a:rPr sz="1450" b="0">
                <a:solidFill>
                  <a:srgbClr val="0A0A0A"/>
                </a:solidFill>
                <a:latin typeface="Consolas"/>
              </a:rPr>
              <a:t>explainDeclineReason( )</a:t>
            </a:r>
          </a:p>
        </p:txBody>
      </p:sp>
      <p:sp>
        <p:nvSpPr>
          <p:cNvPr id="25" name="Oval 24"/>
          <p:cNvSpPr/>
          <p:nvPr/>
        </p:nvSpPr>
        <p:spPr>
          <a:xfrm>
            <a:off x="6949440" y="5084064"/>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4983480"/>
            <a:ext cx="3749040" cy="365760"/>
          </a:xfrm>
          <a:prstGeom prst="rect">
            <a:avLst/>
          </a:prstGeom>
          <a:noFill/>
        </p:spPr>
        <p:txBody>
          <a:bodyPr wrap="square" anchor="t" lIns="0" rIns="0" tIns="0" bIns="0">
            <a:spAutoFit/>
          </a:bodyPr>
          <a:lstStyle/>
          <a:p>
            <a:pPr algn="l">
              <a:lnSpc>
                <a:spcPct val="100000"/>
              </a:lnSpc>
              <a:spcBef>
                <a:spcPts val="0"/>
              </a:spcBef>
              <a:spcAft>
                <a:spcPts val="600"/>
              </a:spcAft>
            </a:pPr>
            <a:r>
              <a:rPr sz="1450" b="0">
                <a:solidFill>
                  <a:srgbClr val="0A0A0A"/>
                </a:solidFill>
                <a:latin typeface="Consolas"/>
              </a:rPr>
              <a:t>generateFundingInstruction( )</a:t>
            </a:r>
          </a:p>
        </p:txBody>
      </p:sp>
      <p:sp>
        <p:nvSpPr>
          <p:cNvPr id="27" name="TextBox 26"/>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28" name="TextBox 27"/>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SAFETY LAYER</a:t>
            </a:r>
          </a:p>
        </p:txBody>
      </p:sp>
      <p:sp>
        <p:nvSpPr>
          <p:cNvPr id="3" name="Rectangle 2"/>
          <p:cNvSpPr/>
          <p:nvPr/>
        </p:nvSpPr>
        <p:spPr>
          <a:xfrm>
            <a:off x="841248" y="868680"/>
            <a:ext cx="50292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The AI proposes. The backend decides.</a:t>
            </a:r>
          </a:p>
        </p:txBody>
      </p:sp>
      <p:sp>
        <p:nvSpPr>
          <p:cNvPr id="5" name="Rectangle 4"/>
          <p:cNvSpPr/>
          <p:nvPr/>
        </p:nvSpPr>
        <p:spPr>
          <a:xfrm>
            <a:off x="868680" y="1874519"/>
            <a:ext cx="10469880" cy="822960"/>
          </a:xfrm>
          <a:prstGeom prst="rect">
            <a:avLst/>
          </a:prstGeom>
          <a:solidFill>
            <a:srgbClr val="F6F7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874519"/>
            <a:ext cx="10058400" cy="822960"/>
          </a:xfrm>
          <a:prstGeom prst="rect">
            <a:avLst/>
          </a:prstGeom>
          <a:noFill/>
        </p:spPr>
        <p:txBody>
          <a:bodyPr wrap="square" anchor="ctr" lIns="0" rIns="0" tIns="0" bIns="0">
            <a:spAutoFit/>
          </a:bodyPr>
          <a:lstStyle/>
          <a:p>
            <a:pPr algn="l">
              <a:lnSpc>
                <a:spcPct val="105000"/>
              </a:lnSpc>
              <a:spcBef>
                <a:spcPts val="0"/>
              </a:spcBef>
              <a:spcAft>
                <a:spcPts val="600"/>
              </a:spcAft>
            </a:pPr>
            <a:r>
              <a:rPr sz="1500" b="1">
                <a:solidFill>
                  <a:srgbClr val="0A0A0A"/>
                </a:solidFill>
                <a:latin typeface="Segoe UI Semibold"/>
              </a:rPr>
              <a:t>A deterministic policy engine is authoritative. Frontend state is presentation only. </a:t>
            </a:r>
            <a:r>
              <a:rPr sz="1500" b="0">
                <a:solidFill>
                  <a:srgbClr val="6B7280"/>
                </a:solidFill>
                <a:latin typeface="Segoe UI"/>
              </a:rPr>
              <a:t>Identity, permission, risk and execution are all checked server-side.</a:t>
            </a:r>
          </a:p>
        </p:txBody>
      </p:sp>
      <p:sp>
        <p:nvSpPr>
          <p:cNvPr id="7" name="Rounded Rectangle 6"/>
          <p:cNvSpPr/>
          <p:nvPr/>
        </p:nvSpPr>
        <p:spPr>
          <a:xfrm>
            <a:off x="868680" y="3063240"/>
            <a:ext cx="2487168" cy="914400"/>
          </a:xfrm>
          <a:prstGeom prst="roundRect">
            <a:avLst/>
          </a:prstGeom>
          <a:solidFill>
            <a:srgbClr val="ECFDF5"/>
          </a:solidFill>
          <a:ln w="1524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191256"/>
            <a:ext cx="2487168" cy="365760"/>
          </a:xfrm>
          <a:prstGeom prst="rect">
            <a:avLst/>
          </a:prstGeom>
          <a:noFill/>
        </p:spPr>
        <p:txBody>
          <a:bodyPr wrap="square" anchor="t" lIns="0" rIns="0" tIns="0" bIns="0">
            <a:spAutoFit/>
          </a:bodyPr>
          <a:lstStyle/>
          <a:p>
            <a:pPr algn="ctr">
              <a:lnSpc>
                <a:spcPct val="100000"/>
              </a:lnSpc>
              <a:spcBef>
                <a:spcPts val="0"/>
              </a:spcBef>
              <a:spcAft>
                <a:spcPts val="600"/>
              </a:spcAft>
            </a:pPr>
            <a:r>
              <a:rPr sz="1600" b="1">
                <a:solidFill>
                  <a:srgbClr val="10B981"/>
                </a:solidFill>
                <a:latin typeface="Segoe UI Semibold"/>
              </a:rPr>
              <a:t>ALLOW</a:t>
            </a:r>
          </a:p>
        </p:txBody>
      </p:sp>
      <p:sp>
        <p:nvSpPr>
          <p:cNvPr id="9" name="TextBox 8"/>
          <p:cNvSpPr txBox="1"/>
          <p:nvPr/>
        </p:nvSpPr>
        <p:spPr>
          <a:xfrm>
            <a:off x="868680" y="3575304"/>
            <a:ext cx="2487168" cy="320040"/>
          </a:xfrm>
          <a:prstGeom prst="rect">
            <a:avLst/>
          </a:prstGeom>
          <a:noFill/>
        </p:spPr>
        <p:txBody>
          <a:bodyPr wrap="square" anchor="t" lIns="0" rIns="0" tIns="0" bIns="0">
            <a:spAutoFit/>
          </a:bodyPr>
          <a:lstStyle/>
          <a:p>
            <a:pPr algn="ctr">
              <a:lnSpc>
                <a:spcPct val="100000"/>
              </a:lnSpc>
              <a:spcBef>
                <a:spcPts val="0"/>
              </a:spcBef>
              <a:spcAft>
                <a:spcPts val="600"/>
              </a:spcAft>
            </a:pPr>
            <a:r>
              <a:rPr sz="1200" b="0">
                <a:solidFill>
                  <a:srgbClr val="6B7280"/>
                </a:solidFill>
                <a:latin typeface="Segoe UI"/>
              </a:rPr>
              <a:t>Read-only data</a:t>
            </a:r>
          </a:p>
        </p:txBody>
      </p:sp>
      <p:sp>
        <p:nvSpPr>
          <p:cNvPr id="10" name="Rounded Rectangle 9"/>
          <p:cNvSpPr/>
          <p:nvPr/>
        </p:nvSpPr>
        <p:spPr>
          <a:xfrm>
            <a:off x="3483864" y="3063240"/>
            <a:ext cx="2487168" cy="914400"/>
          </a:xfrm>
          <a:prstGeom prst="roundRect">
            <a:avLst/>
          </a:prstGeom>
          <a:solidFill>
            <a:srgbClr val="FFFBEB"/>
          </a:solidFill>
          <a:ln w="1524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83864" y="3191256"/>
            <a:ext cx="2487168" cy="365760"/>
          </a:xfrm>
          <a:prstGeom prst="rect">
            <a:avLst/>
          </a:prstGeom>
          <a:noFill/>
        </p:spPr>
        <p:txBody>
          <a:bodyPr wrap="square" anchor="t" lIns="0" rIns="0" tIns="0" bIns="0">
            <a:spAutoFit/>
          </a:bodyPr>
          <a:lstStyle/>
          <a:p>
            <a:pPr algn="ctr">
              <a:lnSpc>
                <a:spcPct val="100000"/>
              </a:lnSpc>
              <a:spcBef>
                <a:spcPts val="0"/>
              </a:spcBef>
              <a:spcAft>
                <a:spcPts val="600"/>
              </a:spcAft>
            </a:pPr>
            <a:r>
              <a:rPr sz="1600" b="1">
                <a:solidFill>
                  <a:srgbClr val="F59E0B"/>
                </a:solidFill>
                <a:latin typeface="Segoe UI Semibold"/>
              </a:rPr>
              <a:t>CONFIRM</a:t>
            </a:r>
          </a:p>
        </p:txBody>
      </p:sp>
      <p:sp>
        <p:nvSpPr>
          <p:cNvPr id="12" name="TextBox 11"/>
          <p:cNvSpPr txBox="1"/>
          <p:nvPr/>
        </p:nvSpPr>
        <p:spPr>
          <a:xfrm>
            <a:off x="3483864" y="3575304"/>
            <a:ext cx="2487168" cy="320040"/>
          </a:xfrm>
          <a:prstGeom prst="rect">
            <a:avLst/>
          </a:prstGeom>
          <a:noFill/>
        </p:spPr>
        <p:txBody>
          <a:bodyPr wrap="square" anchor="t" lIns="0" rIns="0" tIns="0" bIns="0">
            <a:spAutoFit/>
          </a:bodyPr>
          <a:lstStyle/>
          <a:p>
            <a:pPr algn="ctr">
              <a:lnSpc>
                <a:spcPct val="100000"/>
              </a:lnSpc>
              <a:spcBef>
                <a:spcPts val="0"/>
              </a:spcBef>
              <a:spcAft>
                <a:spcPts val="600"/>
              </a:spcAft>
            </a:pPr>
            <a:r>
              <a:rPr sz="1200" b="0">
                <a:solidFill>
                  <a:srgbClr val="6B7280"/>
                </a:solidFill>
                <a:latin typeface="Segoe UI"/>
              </a:rPr>
              <a:t>Requires approval</a:t>
            </a:r>
          </a:p>
        </p:txBody>
      </p:sp>
      <p:sp>
        <p:nvSpPr>
          <p:cNvPr id="13" name="Rounded Rectangle 12"/>
          <p:cNvSpPr/>
          <p:nvPr/>
        </p:nvSpPr>
        <p:spPr>
          <a:xfrm>
            <a:off x="6099048" y="3063240"/>
            <a:ext cx="2487168" cy="914400"/>
          </a:xfrm>
          <a:prstGeom prst="roundRect">
            <a:avLst/>
          </a:prstGeom>
          <a:solidFill>
            <a:srgbClr val="FFFBEB"/>
          </a:solidFill>
          <a:ln w="1524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9048" y="3191256"/>
            <a:ext cx="2487168" cy="365760"/>
          </a:xfrm>
          <a:prstGeom prst="rect">
            <a:avLst/>
          </a:prstGeom>
          <a:noFill/>
        </p:spPr>
        <p:txBody>
          <a:bodyPr wrap="square" anchor="t" lIns="0" rIns="0" tIns="0" bIns="0">
            <a:spAutoFit/>
          </a:bodyPr>
          <a:lstStyle/>
          <a:p>
            <a:pPr algn="ctr">
              <a:lnSpc>
                <a:spcPct val="100000"/>
              </a:lnSpc>
              <a:spcBef>
                <a:spcPts val="0"/>
              </a:spcBef>
              <a:spcAft>
                <a:spcPts val="600"/>
              </a:spcAft>
            </a:pPr>
            <a:r>
              <a:rPr sz="1600" b="1">
                <a:solidFill>
                  <a:srgbClr val="F59E0B"/>
                </a:solidFill>
                <a:latin typeface="Segoe UI Semibold"/>
              </a:rPr>
              <a:t>PASSKEY</a:t>
            </a:r>
          </a:p>
        </p:txBody>
      </p:sp>
      <p:sp>
        <p:nvSpPr>
          <p:cNvPr id="15" name="TextBox 14"/>
          <p:cNvSpPr txBox="1"/>
          <p:nvPr/>
        </p:nvSpPr>
        <p:spPr>
          <a:xfrm>
            <a:off x="6099048" y="3575304"/>
            <a:ext cx="2487168" cy="320040"/>
          </a:xfrm>
          <a:prstGeom prst="rect">
            <a:avLst/>
          </a:prstGeom>
          <a:noFill/>
        </p:spPr>
        <p:txBody>
          <a:bodyPr wrap="square" anchor="t" lIns="0" rIns="0" tIns="0" bIns="0">
            <a:spAutoFit/>
          </a:bodyPr>
          <a:lstStyle/>
          <a:p>
            <a:pPr algn="ctr">
              <a:lnSpc>
                <a:spcPct val="100000"/>
              </a:lnSpc>
              <a:spcBef>
                <a:spcPts val="0"/>
              </a:spcBef>
              <a:spcAft>
                <a:spcPts val="600"/>
              </a:spcAft>
            </a:pPr>
            <a:r>
              <a:rPr sz="1200" b="0">
                <a:solidFill>
                  <a:srgbClr val="6B7280"/>
                </a:solidFill>
                <a:latin typeface="Segoe UI"/>
              </a:rPr>
              <a:t>Requires WebAuthn</a:t>
            </a:r>
          </a:p>
        </p:txBody>
      </p:sp>
      <p:sp>
        <p:nvSpPr>
          <p:cNvPr id="16" name="Rounded Rectangle 15"/>
          <p:cNvSpPr/>
          <p:nvPr/>
        </p:nvSpPr>
        <p:spPr>
          <a:xfrm>
            <a:off x="8714232" y="3063240"/>
            <a:ext cx="2487168" cy="914400"/>
          </a:xfrm>
          <a:prstGeom prst="roundRect">
            <a:avLst/>
          </a:prstGeom>
          <a:solidFill>
            <a:srgbClr val="FEF2F2"/>
          </a:solidFill>
          <a:ln w="1524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14232" y="3191256"/>
            <a:ext cx="2487168" cy="365760"/>
          </a:xfrm>
          <a:prstGeom prst="rect">
            <a:avLst/>
          </a:prstGeom>
          <a:noFill/>
        </p:spPr>
        <p:txBody>
          <a:bodyPr wrap="square" anchor="t" lIns="0" rIns="0" tIns="0" bIns="0">
            <a:spAutoFit/>
          </a:bodyPr>
          <a:lstStyle/>
          <a:p>
            <a:pPr algn="ctr">
              <a:lnSpc>
                <a:spcPct val="100000"/>
              </a:lnSpc>
              <a:spcBef>
                <a:spcPts val="0"/>
              </a:spcBef>
              <a:spcAft>
                <a:spcPts val="600"/>
              </a:spcAft>
            </a:pPr>
            <a:r>
              <a:rPr sz="1600" b="1">
                <a:solidFill>
                  <a:srgbClr val="EF4444"/>
                </a:solidFill>
                <a:latin typeface="Segoe UI Semibold"/>
              </a:rPr>
              <a:t>BLOCK</a:t>
            </a:r>
          </a:p>
        </p:txBody>
      </p:sp>
      <p:sp>
        <p:nvSpPr>
          <p:cNvPr id="18" name="TextBox 17"/>
          <p:cNvSpPr txBox="1"/>
          <p:nvPr/>
        </p:nvSpPr>
        <p:spPr>
          <a:xfrm>
            <a:off x="8714232" y="3575304"/>
            <a:ext cx="2487168" cy="320040"/>
          </a:xfrm>
          <a:prstGeom prst="rect">
            <a:avLst/>
          </a:prstGeom>
          <a:noFill/>
        </p:spPr>
        <p:txBody>
          <a:bodyPr wrap="square" anchor="t" lIns="0" rIns="0" tIns="0" bIns="0">
            <a:spAutoFit/>
          </a:bodyPr>
          <a:lstStyle/>
          <a:p>
            <a:pPr algn="ctr">
              <a:lnSpc>
                <a:spcPct val="100000"/>
              </a:lnSpc>
              <a:spcBef>
                <a:spcPts val="0"/>
              </a:spcBef>
              <a:spcAft>
                <a:spcPts val="600"/>
              </a:spcAft>
            </a:pPr>
            <a:r>
              <a:rPr sz="1200" b="0">
                <a:solidFill>
                  <a:srgbClr val="6B7280"/>
                </a:solidFill>
                <a:latin typeface="Segoe UI"/>
              </a:rPr>
              <a:t>Refused outright</a:t>
            </a:r>
          </a:p>
        </p:txBody>
      </p:sp>
      <p:sp>
        <p:nvSpPr>
          <p:cNvPr id="19" name="TextBox 18"/>
          <p:cNvSpPr txBox="1"/>
          <p:nvPr/>
        </p:nvSpPr>
        <p:spPr>
          <a:xfrm>
            <a:off x="868680" y="43434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400" b="1">
                <a:solidFill>
                  <a:srgbClr val="0A0A0A"/>
                </a:solidFill>
                <a:latin typeface="Segoe UI Semibold"/>
              </a:rPr>
              <a:t>Always blocked, by policy:</a:t>
            </a:r>
          </a:p>
        </p:txBody>
      </p:sp>
      <p:sp>
        <p:nvSpPr>
          <p:cNvPr id="20" name="Rounded Rectangle 19"/>
          <p:cNvSpPr/>
          <p:nvPr/>
        </p:nvSpPr>
        <p:spPr>
          <a:xfrm>
            <a:off x="868680" y="4800600"/>
            <a:ext cx="1600200" cy="457200"/>
          </a:xfrm>
          <a:prstGeom prst="roundRect">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800600"/>
            <a:ext cx="160020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50" b="1">
                <a:solidFill>
                  <a:srgbClr val="EF4444"/>
                </a:solidFill>
                <a:latin typeface="Segoe UI Semibold"/>
              </a:rPr>
              <a:t>Transfer money</a:t>
            </a:r>
          </a:p>
        </p:txBody>
      </p:sp>
      <p:sp>
        <p:nvSpPr>
          <p:cNvPr id="22" name="Rounded Rectangle 21"/>
          <p:cNvSpPr/>
          <p:nvPr/>
        </p:nvSpPr>
        <p:spPr>
          <a:xfrm>
            <a:off x="2615184" y="4800600"/>
            <a:ext cx="2080260" cy="457200"/>
          </a:xfrm>
          <a:prstGeom prst="roundRect">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15184" y="4800600"/>
            <a:ext cx="208026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50" b="1">
                <a:solidFill>
                  <a:srgbClr val="EF4444"/>
                </a:solidFill>
                <a:latin typeface="Segoe UI Semibold"/>
              </a:rPr>
              <a:t>Bypass verification</a:t>
            </a:r>
          </a:p>
        </p:txBody>
      </p:sp>
      <p:sp>
        <p:nvSpPr>
          <p:cNvPr id="24" name="Rounded Rectangle 23"/>
          <p:cNvSpPr/>
          <p:nvPr/>
        </p:nvSpPr>
        <p:spPr>
          <a:xfrm>
            <a:off x="4841748" y="4800600"/>
            <a:ext cx="3616452" cy="457200"/>
          </a:xfrm>
          <a:prstGeom prst="roundRect">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1748" y="4800600"/>
            <a:ext cx="3616452"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50" b="1">
                <a:solidFill>
                  <a:srgbClr val="EF4444"/>
                </a:solidFill>
                <a:latin typeface="Segoe UI Semibold"/>
              </a:rPr>
              <a:t>Reveal CVV / OTP / full card number</a:t>
            </a:r>
          </a:p>
        </p:txBody>
      </p:sp>
      <p:sp>
        <p:nvSpPr>
          <p:cNvPr id="26" name="Rounded Rectangle 25"/>
          <p:cNvSpPr/>
          <p:nvPr/>
        </p:nvSpPr>
        <p:spPr>
          <a:xfrm>
            <a:off x="8604504" y="4800600"/>
            <a:ext cx="2080260" cy="457200"/>
          </a:xfrm>
          <a:prstGeom prst="roundRect">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04504" y="4800600"/>
            <a:ext cx="208026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50" b="1">
                <a:solidFill>
                  <a:srgbClr val="EF4444"/>
                </a:solidFill>
                <a:latin typeface="Segoe UI Semibold"/>
              </a:rPr>
              <a:t>Change KYC identity</a:t>
            </a:r>
          </a:p>
        </p:txBody>
      </p:sp>
      <p:sp>
        <p:nvSpPr>
          <p:cNvPr id="28" name="Rounded Rectangle 27"/>
          <p:cNvSpPr/>
          <p:nvPr/>
        </p:nvSpPr>
        <p:spPr>
          <a:xfrm>
            <a:off x="10831068" y="4800600"/>
            <a:ext cx="1888236" cy="457200"/>
          </a:xfrm>
          <a:prstGeom prst="roundRect">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831068" y="4800600"/>
            <a:ext cx="1888236"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50" b="1">
                <a:solidFill>
                  <a:srgbClr val="EF4444"/>
                </a:solidFill>
                <a:latin typeface="Segoe UI Semibold"/>
              </a:rPr>
              <a:t>Investment advice</a:t>
            </a:r>
          </a:p>
        </p:txBody>
      </p:sp>
      <p:sp>
        <p:nvSpPr>
          <p:cNvPr id="30" name="TextBox 29"/>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31" name="TextBox 30"/>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APPROVAL + WEBAUTHN</a:t>
            </a:r>
          </a:p>
        </p:txBody>
      </p:sp>
      <p:sp>
        <p:nvSpPr>
          <p:cNvPr id="3" name="Rectangle 2"/>
          <p:cNvSpPr/>
          <p:nvPr/>
        </p:nvSpPr>
        <p:spPr>
          <a:xfrm>
            <a:off x="841248" y="868680"/>
            <a:ext cx="50292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A real passkey, not a simulated tap</a:t>
            </a:r>
          </a:p>
        </p:txBody>
      </p:sp>
      <p:sp>
        <p:nvSpPr>
          <p:cNvPr id="5" name="Oval 4"/>
          <p:cNvSpPr/>
          <p:nvPr/>
        </p:nvSpPr>
        <p:spPr>
          <a:xfrm>
            <a:off x="868680" y="209397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011680"/>
            <a:ext cx="528523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Pending action.  </a:t>
            </a:r>
            <a:r>
              <a:rPr sz="1500" b="0">
                <a:solidFill>
                  <a:srgbClr val="6B7280"/>
                </a:solidFill>
                <a:latin typeface="Segoe UI"/>
              </a:rPr>
              <a:t>Backend creates an expiring proposal, not an execution.</a:t>
            </a:r>
          </a:p>
        </p:txBody>
      </p:sp>
      <p:sp>
        <p:nvSpPr>
          <p:cNvPr id="7" name="Oval 6"/>
          <p:cNvSpPr/>
          <p:nvPr/>
        </p:nvSpPr>
        <p:spPr>
          <a:xfrm>
            <a:off x="868680" y="2752344"/>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1288" y="2670048"/>
            <a:ext cx="528523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Approval sheet.  </a:t>
            </a:r>
            <a:r>
              <a:rPr sz="1500" b="0">
                <a:solidFill>
                  <a:srgbClr val="6B7280"/>
                </a:solidFill>
                <a:latin typeface="Segoe UI"/>
              </a:rPr>
              <a:t>UI shows current state, new state, risk level and policy reason.</a:t>
            </a:r>
          </a:p>
        </p:txBody>
      </p:sp>
      <p:sp>
        <p:nvSpPr>
          <p:cNvPr id="9" name="Oval 8"/>
          <p:cNvSpPr/>
          <p:nvPr/>
        </p:nvSpPr>
        <p:spPr>
          <a:xfrm>
            <a:off x="868680" y="3410712"/>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3328416"/>
            <a:ext cx="528523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User confirms.  </a:t>
            </a:r>
            <a:r>
              <a:rPr sz="1500" b="0">
                <a:solidFill>
                  <a:srgbClr val="6B7280"/>
                </a:solidFill>
                <a:latin typeface="Segoe UI"/>
              </a:rPr>
              <a:t>The person explicitly approves the change on screen.</a:t>
            </a:r>
          </a:p>
        </p:txBody>
      </p:sp>
      <p:sp>
        <p:nvSpPr>
          <p:cNvPr id="11" name="Oval 10"/>
          <p:cNvSpPr/>
          <p:nvPr/>
        </p:nvSpPr>
        <p:spPr>
          <a:xfrm>
            <a:off x="868680" y="4069080"/>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288" y="3986784"/>
            <a:ext cx="528523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Passkey prompt.  </a:t>
            </a:r>
            <a:r>
              <a:rPr sz="1500" b="0">
                <a:solidFill>
                  <a:srgbClr val="6B7280"/>
                </a:solidFill>
                <a:latin typeface="Segoe UI"/>
              </a:rPr>
              <a:t>The OS / browser runs the real WebAuthn verification.</a:t>
            </a:r>
          </a:p>
        </p:txBody>
      </p:sp>
      <p:sp>
        <p:nvSpPr>
          <p:cNvPr id="13" name="Oval 12"/>
          <p:cNvSpPr/>
          <p:nvPr/>
        </p:nvSpPr>
        <p:spPr>
          <a:xfrm>
            <a:off x="868680" y="4727448"/>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61288" y="4645152"/>
            <a:ext cx="528523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Server verifies.  </a:t>
            </a:r>
            <a:r>
              <a:rPr sz="1500" b="0">
                <a:solidFill>
                  <a:srgbClr val="6B7280"/>
                </a:solidFill>
                <a:latin typeface="Segoe UI"/>
              </a:rPr>
              <a:t>Backend validates the cryptographic assertion, then executes.</a:t>
            </a:r>
          </a:p>
        </p:txBody>
      </p:sp>
      <p:sp>
        <p:nvSpPr>
          <p:cNvPr id="15" name="Rectangle 14"/>
          <p:cNvSpPr/>
          <p:nvPr/>
        </p:nvSpPr>
        <p:spPr>
          <a:xfrm>
            <a:off x="6720840" y="1920240"/>
            <a:ext cx="4572000" cy="2788920"/>
          </a:xfrm>
          <a:prstGeom prst="rect">
            <a:avLst/>
          </a:prstGeom>
          <a:solidFill>
            <a:srgbClr val="0B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2194560"/>
            <a:ext cx="3840480" cy="457200"/>
          </a:xfrm>
          <a:prstGeom prst="rect">
            <a:avLst/>
          </a:prstGeom>
          <a:noFill/>
        </p:spPr>
        <p:txBody>
          <a:bodyPr wrap="square" anchor="t" lIns="0" rIns="0" tIns="0" bIns="0">
            <a:spAutoFit/>
          </a:bodyPr>
          <a:lstStyle/>
          <a:p>
            <a:pPr algn="l">
              <a:lnSpc>
                <a:spcPct val="100000"/>
              </a:lnSpc>
              <a:spcBef>
                <a:spcPts val="0"/>
              </a:spcBef>
              <a:spcAft>
                <a:spcPts val="600"/>
              </a:spcAft>
            </a:pPr>
            <a:r>
              <a:rPr sz="1800" b="1">
                <a:solidFill>
                  <a:srgbClr val="FFFFFF"/>
                </a:solidFill>
                <a:latin typeface="Segoe UI Semibold"/>
              </a:rPr>
              <a:t>Biometric privacy</a:t>
            </a:r>
          </a:p>
        </p:txBody>
      </p:sp>
      <p:sp>
        <p:nvSpPr>
          <p:cNvPr id="17" name="TextBox 16"/>
          <p:cNvSpPr txBox="1"/>
          <p:nvPr/>
        </p:nvSpPr>
        <p:spPr>
          <a:xfrm>
            <a:off x="7086600" y="2788920"/>
            <a:ext cx="3840480" cy="1828800"/>
          </a:xfrm>
          <a:prstGeom prst="rect">
            <a:avLst/>
          </a:prstGeom>
          <a:noFill/>
        </p:spPr>
        <p:txBody>
          <a:bodyPr wrap="square" anchor="t" lIns="0" rIns="0" tIns="0" bIns="0">
            <a:spAutoFit/>
          </a:bodyPr>
          <a:lstStyle/>
          <a:p>
            <a:pPr algn="l">
              <a:lnSpc>
                <a:spcPct val="112000"/>
              </a:lnSpc>
              <a:spcBef>
                <a:spcPts val="0"/>
              </a:spcBef>
              <a:spcAft>
                <a:spcPts val="1000"/>
              </a:spcAft>
            </a:pPr>
            <a:r>
              <a:rPr sz="1500" b="1">
                <a:solidFill>
                  <a:srgbClr val="FFFFFF"/>
                </a:solidFill>
                <a:latin typeface="Segoe UI Semibold"/>
              </a:rPr>
              <a:t>Voges never receives fingerprint or face data.</a:t>
            </a:r>
          </a:p>
          <a:p>
            <a:pPr algn="l">
              <a:lnSpc>
                <a:spcPct val="112000"/>
              </a:lnSpc>
              <a:spcBef>
                <a:spcPts val="0"/>
              </a:spcBef>
              <a:spcAft>
                <a:spcPts val="1000"/>
              </a:spcAft>
            </a:pPr>
            <a:r>
              <a:rPr sz="1400" b="0">
                <a:solidFill>
                  <a:srgbClr val="C9CED6"/>
                </a:solidFill>
                <a:latin typeface="Segoe UI"/>
              </a:rPr>
              <a:t>The operating system performs local user verification and returns only a signed cryptographic assertion.</a:t>
            </a:r>
          </a:p>
          <a:p>
            <a:pPr algn="l">
              <a:lnSpc>
                <a:spcPct val="112000"/>
              </a:lnSpc>
              <a:spcBef>
                <a:spcPts val="0"/>
              </a:spcBef>
              <a:spcAft>
                <a:spcPts val="1000"/>
              </a:spcAft>
            </a:pPr>
            <a:r>
              <a:rPr sz="1400" b="1">
                <a:solidFill>
                  <a:srgbClr val="F59E0B"/>
                </a:solidFill>
                <a:latin typeface="Segoe UI Semibold"/>
              </a:rPr>
              <a:t>No fake biometric. No simulated success.</a:t>
            </a:r>
          </a:p>
        </p:txBody>
      </p:sp>
      <p:sp>
        <p:nvSpPr>
          <p:cNvPr id="18" name="Rounded Rectangle 17"/>
          <p:cNvSpPr/>
          <p:nvPr/>
        </p:nvSpPr>
        <p:spPr>
          <a:xfrm>
            <a:off x="6720840" y="4983480"/>
            <a:ext cx="2194560" cy="384048"/>
          </a:xfrm>
          <a:prstGeom prst="roundRect">
            <a:avLst>
              <a:gd name="adj" fmla="val 50000"/>
            </a:avLst>
          </a:prstGeom>
          <a:solidFill>
            <a:srgbClr val="F6F7F9"/>
          </a:solid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024628"/>
            <a:ext cx="2194560"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150" b="1">
                <a:solidFill>
                  <a:srgbClr val="0A0A0A"/>
                </a:solidFill>
                <a:latin typeface="Segoe UI Semibold"/>
              </a:rPr>
              <a:t>@simplewebauthn/server</a:t>
            </a:r>
          </a:p>
        </p:txBody>
      </p:sp>
      <p:sp>
        <p:nvSpPr>
          <p:cNvPr id="20" name="Rounded Rectangle 19"/>
          <p:cNvSpPr/>
          <p:nvPr/>
        </p:nvSpPr>
        <p:spPr>
          <a:xfrm>
            <a:off x="9098280" y="4983480"/>
            <a:ext cx="2194560" cy="384048"/>
          </a:xfrm>
          <a:prstGeom prst="roundRect">
            <a:avLst>
              <a:gd name="adj" fmla="val 50000"/>
            </a:avLst>
          </a:prstGeom>
          <a:solidFill>
            <a:srgbClr val="F6F7F9"/>
          </a:solid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5024628"/>
            <a:ext cx="2194560"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150" b="1">
                <a:solidFill>
                  <a:srgbClr val="0A0A0A"/>
                </a:solidFill>
                <a:latin typeface="Segoe UI Semibold"/>
              </a:rPr>
              <a:t>@simplewebauthn/browser</a:t>
            </a:r>
          </a:p>
        </p:txBody>
      </p:sp>
      <p:sp>
        <p:nvSpPr>
          <p:cNvPr id="22" name="TextBox 21"/>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23" name="TextBox 22"/>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AUDIT TRAIL</a:t>
            </a:r>
          </a:p>
        </p:txBody>
      </p:sp>
      <p:sp>
        <p:nvSpPr>
          <p:cNvPr id="3" name="Rectangle 2"/>
          <p:cNvSpPr/>
          <p:nvPr/>
        </p:nvSpPr>
        <p:spPr>
          <a:xfrm>
            <a:off x="841248" y="868680"/>
            <a:ext cx="502920" cy="381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Every step is written down</a:t>
            </a:r>
          </a:p>
        </p:txBody>
      </p:sp>
      <p:sp>
        <p:nvSpPr>
          <p:cNvPr id="5" name="Oval 4"/>
          <p:cNvSpPr/>
          <p:nvPr/>
        </p:nvSpPr>
        <p:spPr>
          <a:xfrm>
            <a:off x="868680" y="209397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1288" y="2011680"/>
            <a:ext cx="5102352" cy="640080"/>
          </a:xfrm>
          <a:prstGeom prst="rect">
            <a:avLst/>
          </a:prstGeom>
          <a:noFill/>
        </p:spPr>
        <p:txBody>
          <a:bodyPr wrap="square" anchor="t" lIns="0" rIns="0" tIns="0" bIns="0">
            <a:spAutoFit/>
          </a:bodyPr>
          <a:lstStyle/>
          <a:p>
            <a:pPr algn="l">
              <a:lnSpc>
                <a:spcPct val="102000"/>
              </a:lnSpc>
              <a:spcBef>
                <a:spcPts val="0"/>
              </a:spcBef>
              <a:spcAft>
                <a:spcPts val="600"/>
              </a:spcAft>
            </a:pPr>
            <a:r>
              <a:rPr sz="1550" b="1">
                <a:solidFill>
                  <a:srgbClr val="0A0A0A"/>
                </a:solidFill>
                <a:latin typeface="Segoe UI Semibold"/>
              </a:rPr>
              <a:t>Append-only log.  </a:t>
            </a:r>
            <a:r>
              <a:rPr sz="1550" b="0">
                <a:solidFill>
                  <a:srgbClr val="6B7280"/>
                </a:solidFill>
                <a:latin typeface="Segoe UI"/>
              </a:rPr>
              <a:t>Every tool call and action is recorded.</a:t>
            </a:r>
          </a:p>
        </p:txBody>
      </p:sp>
      <p:sp>
        <p:nvSpPr>
          <p:cNvPr id="7" name="Oval 6"/>
          <p:cNvSpPr/>
          <p:nvPr/>
        </p:nvSpPr>
        <p:spPr>
          <a:xfrm>
            <a:off x="868680" y="291693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1288" y="2834640"/>
            <a:ext cx="5102352" cy="640080"/>
          </a:xfrm>
          <a:prstGeom prst="rect">
            <a:avLst/>
          </a:prstGeom>
          <a:noFill/>
        </p:spPr>
        <p:txBody>
          <a:bodyPr wrap="square" anchor="t" lIns="0" rIns="0" tIns="0" bIns="0">
            <a:spAutoFit/>
          </a:bodyPr>
          <a:lstStyle/>
          <a:p>
            <a:pPr algn="l">
              <a:lnSpc>
                <a:spcPct val="102000"/>
              </a:lnSpc>
              <a:spcBef>
                <a:spcPts val="0"/>
              </a:spcBef>
              <a:spcAft>
                <a:spcPts val="600"/>
              </a:spcAft>
            </a:pPr>
            <a:r>
              <a:rPr sz="1550" b="1">
                <a:solidFill>
                  <a:srgbClr val="0A0A0A"/>
                </a:solidFill>
                <a:latin typeface="Segoe UI Semibold"/>
              </a:rPr>
              <a:t>Full context.  </a:t>
            </a:r>
            <a:r>
              <a:rPr sz="1550" b="0">
                <a:solidFill>
                  <a:srgbClr val="6B7280"/>
                </a:solidFill>
                <a:latin typeface="Segoe UI"/>
              </a:rPr>
              <a:t>Policy result, pending action, confirmation, passkey status, execution result.</a:t>
            </a:r>
          </a:p>
        </p:txBody>
      </p:sp>
      <p:sp>
        <p:nvSpPr>
          <p:cNvPr id="9" name="Oval 8"/>
          <p:cNvSpPr/>
          <p:nvPr/>
        </p:nvSpPr>
        <p:spPr>
          <a:xfrm>
            <a:off x="868680" y="373989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3657600"/>
            <a:ext cx="5102352" cy="640080"/>
          </a:xfrm>
          <a:prstGeom prst="rect">
            <a:avLst/>
          </a:prstGeom>
          <a:noFill/>
        </p:spPr>
        <p:txBody>
          <a:bodyPr wrap="square" anchor="t" lIns="0" rIns="0" tIns="0" bIns="0">
            <a:spAutoFit/>
          </a:bodyPr>
          <a:lstStyle/>
          <a:p>
            <a:pPr algn="l">
              <a:lnSpc>
                <a:spcPct val="102000"/>
              </a:lnSpc>
              <a:spcBef>
                <a:spcPts val="0"/>
              </a:spcBef>
              <a:spcAft>
                <a:spcPts val="600"/>
              </a:spcAft>
            </a:pPr>
            <a:r>
              <a:rPr sz="1550" b="1">
                <a:solidFill>
                  <a:srgbClr val="0A0A0A"/>
                </a:solidFill>
                <a:latin typeface="Segoe UI Semibold"/>
              </a:rPr>
              <a:t>Built for trust.  </a:t>
            </a:r>
            <a:r>
              <a:rPr sz="1550" b="0">
                <a:solidFill>
                  <a:srgbClr val="6B7280"/>
                </a:solidFill>
                <a:latin typeface="Segoe UI"/>
              </a:rPr>
              <a:t>Supports compliance, debugging, and after-the-fact review.</a:t>
            </a:r>
          </a:p>
        </p:txBody>
      </p:sp>
      <p:sp>
        <p:nvSpPr>
          <p:cNvPr id="11" name="Rectangle 10"/>
          <p:cNvSpPr/>
          <p:nvPr/>
        </p:nvSpPr>
        <p:spPr>
          <a:xfrm>
            <a:off x="6583680" y="1920240"/>
            <a:ext cx="4709160" cy="3840480"/>
          </a:xfrm>
          <a:prstGeom prst="rect">
            <a:avLst/>
          </a:prstGeom>
          <a:solidFill>
            <a:srgbClr val="F6F7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50608" y="2377440"/>
            <a:ext cx="25400" cy="306324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0" y="2295144"/>
            <a:ext cx="219456" cy="21945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52360" y="2240280"/>
            <a:ext cx="3611880" cy="365760"/>
          </a:xfrm>
          <a:prstGeom prst="rect">
            <a:avLst/>
          </a:prstGeom>
          <a:noFill/>
        </p:spPr>
        <p:txBody>
          <a:bodyPr wrap="square" anchor="ctr" lIns="0" rIns="0" tIns="0" bIns="0">
            <a:spAutoFit/>
          </a:bodyPr>
          <a:lstStyle/>
          <a:p>
            <a:pPr algn="l">
              <a:lnSpc>
                <a:spcPct val="100000"/>
              </a:lnSpc>
              <a:spcBef>
                <a:spcPts val="0"/>
              </a:spcBef>
              <a:spcAft>
                <a:spcPts val="600"/>
              </a:spcAft>
            </a:pPr>
            <a:r>
              <a:rPr sz="1400" b="0">
                <a:solidFill>
                  <a:srgbClr val="0A0A0A"/>
                </a:solidFill>
                <a:latin typeface="Consolas"/>
              </a:rPr>
              <a:t>tool_read_completed</a:t>
            </a:r>
          </a:p>
        </p:txBody>
      </p:sp>
      <p:sp>
        <p:nvSpPr>
          <p:cNvPr id="15" name="Oval 14"/>
          <p:cNvSpPr/>
          <p:nvPr/>
        </p:nvSpPr>
        <p:spPr>
          <a:xfrm>
            <a:off x="7040880" y="2752344"/>
            <a:ext cx="219456" cy="219456"/>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0" y="2697480"/>
            <a:ext cx="3611880" cy="365760"/>
          </a:xfrm>
          <a:prstGeom prst="rect">
            <a:avLst/>
          </a:prstGeom>
          <a:noFill/>
        </p:spPr>
        <p:txBody>
          <a:bodyPr wrap="square" anchor="ctr" lIns="0" rIns="0" tIns="0" bIns="0">
            <a:spAutoFit/>
          </a:bodyPr>
          <a:lstStyle/>
          <a:p>
            <a:pPr algn="l">
              <a:lnSpc>
                <a:spcPct val="100000"/>
              </a:lnSpc>
              <a:spcBef>
                <a:spcPts val="0"/>
              </a:spcBef>
              <a:spcAft>
                <a:spcPts val="600"/>
              </a:spcAft>
            </a:pPr>
            <a:r>
              <a:rPr sz="1400" b="0">
                <a:solidFill>
                  <a:srgbClr val="0A0A0A"/>
                </a:solidFill>
                <a:latin typeface="Consolas"/>
              </a:rPr>
              <a:t>action_proposed</a:t>
            </a:r>
          </a:p>
        </p:txBody>
      </p:sp>
      <p:sp>
        <p:nvSpPr>
          <p:cNvPr id="17" name="Oval 16"/>
          <p:cNvSpPr/>
          <p:nvPr/>
        </p:nvSpPr>
        <p:spPr>
          <a:xfrm>
            <a:off x="7040880" y="3209544"/>
            <a:ext cx="219456" cy="21945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154680"/>
            <a:ext cx="3611880" cy="365760"/>
          </a:xfrm>
          <a:prstGeom prst="rect">
            <a:avLst/>
          </a:prstGeom>
          <a:noFill/>
        </p:spPr>
        <p:txBody>
          <a:bodyPr wrap="square" anchor="ctr" lIns="0" rIns="0" tIns="0" bIns="0">
            <a:spAutoFit/>
          </a:bodyPr>
          <a:lstStyle/>
          <a:p>
            <a:pPr algn="l">
              <a:lnSpc>
                <a:spcPct val="100000"/>
              </a:lnSpc>
              <a:spcBef>
                <a:spcPts val="0"/>
              </a:spcBef>
              <a:spcAft>
                <a:spcPts val="600"/>
              </a:spcAft>
            </a:pPr>
            <a:r>
              <a:rPr sz="1400" b="0">
                <a:solidFill>
                  <a:srgbClr val="0A0A0A"/>
                </a:solidFill>
                <a:latin typeface="Consolas"/>
              </a:rPr>
              <a:t>policy_evaluated</a:t>
            </a:r>
          </a:p>
        </p:txBody>
      </p:sp>
      <p:sp>
        <p:nvSpPr>
          <p:cNvPr id="19" name="Oval 18"/>
          <p:cNvSpPr/>
          <p:nvPr/>
        </p:nvSpPr>
        <p:spPr>
          <a:xfrm>
            <a:off x="7040880" y="3666744"/>
            <a:ext cx="219456" cy="21945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3611880"/>
            <a:ext cx="3611880" cy="365760"/>
          </a:xfrm>
          <a:prstGeom prst="rect">
            <a:avLst/>
          </a:prstGeom>
          <a:noFill/>
        </p:spPr>
        <p:txBody>
          <a:bodyPr wrap="square" anchor="ctr" lIns="0" rIns="0" tIns="0" bIns="0">
            <a:spAutoFit/>
          </a:bodyPr>
          <a:lstStyle/>
          <a:p>
            <a:pPr algn="l">
              <a:lnSpc>
                <a:spcPct val="100000"/>
              </a:lnSpc>
              <a:spcBef>
                <a:spcPts val="0"/>
              </a:spcBef>
              <a:spcAft>
                <a:spcPts val="600"/>
              </a:spcAft>
            </a:pPr>
            <a:r>
              <a:rPr sz="1400" b="0">
                <a:solidFill>
                  <a:srgbClr val="0A0A0A"/>
                </a:solidFill>
                <a:latin typeface="Consolas"/>
              </a:rPr>
              <a:t>pending_action_created</a:t>
            </a:r>
          </a:p>
        </p:txBody>
      </p:sp>
      <p:sp>
        <p:nvSpPr>
          <p:cNvPr id="21" name="Oval 20"/>
          <p:cNvSpPr/>
          <p:nvPr/>
        </p:nvSpPr>
        <p:spPr>
          <a:xfrm>
            <a:off x="7040880" y="4123944"/>
            <a:ext cx="219456" cy="21945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52360" y="4069080"/>
            <a:ext cx="3611880" cy="365760"/>
          </a:xfrm>
          <a:prstGeom prst="rect">
            <a:avLst/>
          </a:prstGeom>
          <a:noFill/>
        </p:spPr>
        <p:txBody>
          <a:bodyPr wrap="square" anchor="ctr" lIns="0" rIns="0" tIns="0" bIns="0">
            <a:spAutoFit/>
          </a:bodyPr>
          <a:lstStyle/>
          <a:p>
            <a:pPr algn="l">
              <a:lnSpc>
                <a:spcPct val="100000"/>
              </a:lnSpc>
              <a:spcBef>
                <a:spcPts val="0"/>
              </a:spcBef>
              <a:spcAft>
                <a:spcPts val="600"/>
              </a:spcAft>
            </a:pPr>
            <a:r>
              <a:rPr sz="1400" b="0">
                <a:solidFill>
                  <a:srgbClr val="0A0A0A"/>
                </a:solidFill>
                <a:latin typeface="Consolas"/>
              </a:rPr>
              <a:t>webauthn_verified</a:t>
            </a:r>
          </a:p>
        </p:txBody>
      </p:sp>
      <p:sp>
        <p:nvSpPr>
          <p:cNvPr id="23" name="Oval 22"/>
          <p:cNvSpPr/>
          <p:nvPr/>
        </p:nvSpPr>
        <p:spPr>
          <a:xfrm>
            <a:off x="7040880" y="4581144"/>
            <a:ext cx="219456" cy="21945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526280"/>
            <a:ext cx="3611880" cy="365760"/>
          </a:xfrm>
          <a:prstGeom prst="rect">
            <a:avLst/>
          </a:prstGeom>
          <a:noFill/>
        </p:spPr>
        <p:txBody>
          <a:bodyPr wrap="square" anchor="ctr" lIns="0" rIns="0" tIns="0" bIns="0">
            <a:spAutoFit/>
          </a:bodyPr>
          <a:lstStyle/>
          <a:p>
            <a:pPr algn="l">
              <a:lnSpc>
                <a:spcPct val="100000"/>
              </a:lnSpc>
              <a:spcBef>
                <a:spcPts val="0"/>
              </a:spcBef>
              <a:spcAft>
                <a:spcPts val="600"/>
              </a:spcAft>
            </a:pPr>
            <a:r>
              <a:rPr sz="1400" b="0">
                <a:solidFill>
                  <a:srgbClr val="0A0A0A"/>
                </a:solidFill>
                <a:latin typeface="Consolas"/>
              </a:rPr>
              <a:t>action_executed</a:t>
            </a:r>
          </a:p>
        </p:txBody>
      </p:sp>
      <p:sp>
        <p:nvSpPr>
          <p:cNvPr id="25" name="Oval 24"/>
          <p:cNvSpPr/>
          <p:nvPr/>
        </p:nvSpPr>
        <p:spPr>
          <a:xfrm>
            <a:off x="7040880" y="5038344"/>
            <a:ext cx="219456" cy="219456"/>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0" y="4983480"/>
            <a:ext cx="3611880" cy="365760"/>
          </a:xfrm>
          <a:prstGeom prst="rect">
            <a:avLst/>
          </a:prstGeom>
          <a:noFill/>
        </p:spPr>
        <p:txBody>
          <a:bodyPr wrap="square" anchor="ctr" lIns="0" rIns="0" tIns="0" bIns="0">
            <a:spAutoFit/>
          </a:bodyPr>
          <a:lstStyle/>
          <a:p>
            <a:pPr algn="l">
              <a:lnSpc>
                <a:spcPct val="100000"/>
              </a:lnSpc>
              <a:spcBef>
                <a:spcPts val="0"/>
              </a:spcBef>
              <a:spcAft>
                <a:spcPts val="600"/>
              </a:spcAft>
            </a:pPr>
            <a:r>
              <a:rPr sz="1400" b="0">
                <a:solidFill>
                  <a:srgbClr val="0A0A0A"/>
                </a:solidFill>
                <a:latin typeface="Consolas"/>
              </a:rPr>
              <a:t>policy_blocked</a:t>
            </a:r>
          </a:p>
        </p:txBody>
      </p:sp>
      <p:sp>
        <p:nvSpPr>
          <p:cNvPr id="27" name="TextBox 26"/>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28" name="TextBox 27"/>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DEMO SCENARIOS</a:t>
            </a:r>
          </a:p>
        </p:txBody>
      </p:sp>
      <p:sp>
        <p:nvSpPr>
          <p:cNvPr id="3" name="Rectangle 2"/>
          <p:cNvSpPr/>
          <p:nvPr/>
        </p:nvSpPr>
        <p:spPr>
          <a:xfrm>
            <a:off x="841248" y="868680"/>
            <a:ext cx="502920" cy="381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Six scenarios we can run live</a:t>
            </a:r>
          </a:p>
        </p:txBody>
      </p:sp>
      <p:sp>
        <p:nvSpPr>
          <p:cNvPr id="5" name="Rectangle 4"/>
          <p:cNvSpPr/>
          <p:nvPr/>
        </p:nvSpPr>
        <p:spPr>
          <a:xfrm>
            <a:off x="868680" y="2011680"/>
            <a:ext cx="3401568" cy="1554480"/>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011680"/>
            <a:ext cx="109728" cy="1554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6152" y="2231136"/>
            <a:ext cx="2852928" cy="45720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0A0A0A"/>
                </a:solidFill>
                <a:latin typeface="Segoe UI Semibold"/>
              </a:rPr>
              <a:t>Card declined</a:t>
            </a:r>
          </a:p>
        </p:txBody>
      </p:sp>
      <p:sp>
        <p:nvSpPr>
          <p:cNvPr id="8" name="TextBox 7"/>
          <p:cNvSpPr txBox="1"/>
          <p:nvPr/>
        </p:nvSpPr>
        <p:spPr>
          <a:xfrm>
            <a:off x="1216152" y="2761488"/>
            <a:ext cx="2852928" cy="640080"/>
          </a:xfrm>
          <a:prstGeom prst="rect">
            <a:avLst/>
          </a:prstGeom>
          <a:noFill/>
        </p:spPr>
        <p:txBody>
          <a:bodyPr wrap="square" anchor="t" lIns="0" rIns="0" tIns="0" bIns="0">
            <a:spAutoFit/>
          </a:bodyPr>
          <a:lstStyle/>
          <a:p>
            <a:pPr algn="l">
              <a:lnSpc>
                <a:spcPct val="105000"/>
              </a:lnSpc>
              <a:spcBef>
                <a:spcPts val="0"/>
              </a:spcBef>
              <a:spcAft>
                <a:spcPts val="600"/>
              </a:spcAft>
            </a:pPr>
            <a:r>
              <a:rPr sz="1300" b="0">
                <a:solidFill>
                  <a:srgbClr val="6B7280"/>
                </a:solidFill>
                <a:latin typeface="Segoe UI"/>
              </a:rPr>
              <a:t>Explain why a payment failed</a:t>
            </a:r>
          </a:p>
        </p:txBody>
      </p:sp>
      <p:sp>
        <p:nvSpPr>
          <p:cNvPr id="9" name="Rectangle 8"/>
          <p:cNvSpPr/>
          <p:nvPr/>
        </p:nvSpPr>
        <p:spPr>
          <a:xfrm>
            <a:off x="4434840" y="2011680"/>
            <a:ext cx="3401568" cy="1554480"/>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2011680"/>
            <a:ext cx="109728" cy="1554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2312" y="2231136"/>
            <a:ext cx="2852928" cy="45720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0A0A0A"/>
                </a:solidFill>
                <a:latin typeface="Segoe UI Semibold"/>
              </a:rPr>
              <a:t>Recent transactions</a:t>
            </a:r>
          </a:p>
        </p:txBody>
      </p:sp>
      <p:sp>
        <p:nvSpPr>
          <p:cNvPr id="12" name="TextBox 11"/>
          <p:cNvSpPr txBox="1"/>
          <p:nvPr/>
        </p:nvSpPr>
        <p:spPr>
          <a:xfrm>
            <a:off x="4782312" y="2761488"/>
            <a:ext cx="2852928" cy="640080"/>
          </a:xfrm>
          <a:prstGeom prst="rect">
            <a:avLst/>
          </a:prstGeom>
          <a:noFill/>
        </p:spPr>
        <p:txBody>
          <a:bodyPr wrap="square" anchor="t" lIns="0" rIns="0" tIns="0" bIns="0">
            <a:spAutoFit/>
          </a:bodyPr>
          <a:lstStyle/>
          <a:p>
            <a:pPr algn="l">
              <a:lnSpc>
                <a:spcPct val="105000"/>
              </a:lnSpc>
              <a:spcBef>
                <a:spcPts val="0"/>
              </a:spcBef>
              <a:spcAft>
                <a:spcPts val="600"/>
              </a:spcAft>
            </a:pPr>
            <a:r>
              <a:rPr sz="1300" b="0">
                <a:solidFill>
                  <a:srgbClr val="6B7280"/>
                </a:solidFill>
                <a:latin typeface="Segoe UI"/>
              </a:rPr>
              <a:t>Show a transaction summary</a:t>
            </a:r>
          </a:p>
        </p:txBody>
      </p:sp>
      <p:sp>
        <p:nvSpPr>
          <p:cNvPr id="13" name="Rectangle 12"/>
          <p:cNvSpPr/>
          <p:nvPr/>
        </p:nvSpPr>
        <p:spPr>
          <a:xfrm>
            <a:off x="8001000" y="2011680"/>
            <a:ext cx="3401568" cy="1554480"/>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1000" y="2011680"/>
            <a:ext cx="109728" cy="1554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2231136"/>
            <a:ext cx="2852928" cy="45720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0A0A0A"/>
                </a:solidFill>
                <a:latin typeface="Segoe UI Semibold"/>
              </a:rPr>
              <a:t>KYC status</a:t>
            </a:r>
          </a:p>
        </p:txBody>
      </p:sp>
      <p:sp>
        <p:nvSpPr>
          <p:cNvPr id="16" name="TextBox 15"/>
          <p:cNvSpPr txBox="1"/>
          <p:nvPr/>
        </p:nvSpPr>
        <p:spPr>
          <a:xfrm>
            <a:off x="8348472" y="2761488"/>
            <a:ext cx="2852928" cy="640080"/>
          </a:xfrm>
          <a:prstGeom prst="rect">
            <a:avLst/>
          </a:prstGeom>
          <a:noFill/>
        </p:spPr>
        <p:txBody>
          <a:bodyPr wrap="square" anchor="t" lIns="0" rIns="0" tIns="0" bIns="0">
            <a:spAutoFit/>
          </a:bodyPr>
          <a:lstStyle/>
          <a:p>
            <a:pPr algn="l">
              <a:lnSpc>
                <a:spcPct val="105000"/>
              </a:lnSpc>
              <a:spcBef>
                <a:spcPts val="0"/>
              </a:spcBef>
              <a:spcAft>
                <a:spcPts val="600"/>
              </a:spcAft>
            </a:pPr>
            <a:r>
              <a:rPr sz="1300" b="0">
                <a:solidFill>
                  <a:srgbClr val="6B7280"/>
                </a:solidFill>
                <a:latin typeface="Segoe UI"/>
              </a:rPr>
              <a:t>Read verification state</a:t>
            </a:r>
          </a:p>
        </p:txBody>
      </p:sp>
      <p:sp>
        <p:nvSpPr>
          <p:cNvPr id="17" name="Rectangle 16"/>
          <p:cNvSpPr/>
          <p:nvPr/>
        </p:nvSpPr>
        <p:spPr>
          <a:xfrm>
            <a:off x="868680" y="3767328"/>
            <a:ext cx="3401568" cy="1554480"/>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767328"/>
            <a:ext cx="109728" cy="1554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16152" y="3986784"/>
            <a:ext cx="2852928" cy="45720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0A0A0A"/>
                </a:solidFill>
                <a:latin typeface="Segoe UI Semibold"/>
              </a:rPr>
              <a:t>Funding account</a:t>
            </a:r>
          </a:p>
        </p:txBody>
      </p:sp>
      <p:sp>
        <p:nvSpPr>
          <p:cNvPr id="20" name="TextBox 19"/>
          <p:cNvSpPr txBox="1"/>
          <p:nvPr/>
        </p:nvSpPr>
        <p:spPr>
          <a:xfrm>
            <a:off x="1216152" y="4517136"/>
            <a:ext cx="2852928" cy="640080"/>
          </a:xfrm>
          <a:prstGeom prst="rect">
            <a:avLst/>
          </a:prstGeom>
          <a:noFill/>
        </p:spPr>
        <p:txBody>
          <a:bodyPr wrap="square" anchor="t" lIns="0" rIns="0" tIns="0" bIns="0">
            <a:spAutoFit/>
          </a:bodyPr>
          <a:lstStyle/>
          <a:p>
            <a:pPr algn="l">
              <a:lnSpc>
                <a:spcPct val="105000"/>
              </a:lnSpc>
              <a:spcBef>
                <a:spcPts val="0"/>
              </a:spcBef>
              <a:spcAft>
                <a:spcPts val="600"/>
              </a:spcAft>
            </a:pPr>
            <a:r>
              <a:rPr sz="1300" b="0">
                <a:solidFill>
                  <a:srgbClr val="6B7280"/>
                </a:solidFill>
                <a:latin typeface="Segoe UI"/>
              </a:rPr>
              <a:t>Return funding instructions</a:t>
            </a:r>
          </a:p>
        </p:txBody>
      </p:sp>
      <p:sp>
        <p:nvSpPr>
          <p:cNvPr id="21" name="Rectangle 20"/>
          <p:cNvSpPr/>
          <p:nvPr/>
        </p:nvSpPr>
        <p:spPr>
          <a:xfrm>
            <a:off x="4434840" y="3767328"/>
            <a:ext cx="3401568" cy="1554480"/>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3767328"/>
            <a:ext cx="109728" cy="1554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82312" y="3986784"/>
            <a:ext cx="2852928" cy="45720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0A0A0A"/>
                </a:solidFill>
                <a:latin typeface="Segoe UI Semibold"/>
              </a:rPr>
              <a:t>Enable online payments</a:t>
            </a:r>
          </a:p>
        </p:txBody>
      </p:sp>
      <p:sp>
        <p:nvSpPr>
          <p:cNvPr id="24" name="TextBox 23"/>
          <p:cNvSpPr txBox="1"/>
          <p:nvPr/>
        </p:nvSpPr>
        <p:spPr>
          <a:xfrm>
            <a:off x="4782312" y="4517136"/>
            <a:ext cx="2852928" cy="640080"/>
          </a:xfrm>
          <a:prstGeom prst="rect">
            <a:avLst/>
          </a:prstGeom>
          <a:noFill/>
        </p:spPr>
        <p:txBody>
          <a:bodyPr wrap="square" anchor="t" lIns="0" rIns="0" tIns="0" bIns="0">
            <a:spAutoFit/>
          </a:bodyPr>
          <a:lstStyle/>
          <a:p>
            <a:pPr algn="l">
              <a:lnSpc>
                <a:spcPct val="105000"/>
              </a:lnSpc>
              <a:spcBef>
                <a:spcPts val="0"/>
              </a:spcBef>
              <a:spcAft>
                <a:spcPts val="600"/>
              </a:spcAft>
            </a:pPr>
            <a:r>
              <a:rPr sz="1300" b="0">
                <a:solidFill>
                  <a:srgbClr val="6B7280"/>
                </a:solidFill>
                <a:latin typeface="Segoe UI"/>
              </a:rPr>
              <a:t>Approval + passkey + execute</a:t>
            </a:r>
          </a:p>
        </p:txBody>
      </p:sp>
      <p:sp>
        <p:nvSpPr>
          <p:cNvPr id="25" name="Rectangle 24"/>
          <p:cNvSpPr/>
          <p:nvPr/>
        </p:nvSpPr>
        <p:spPr>
          <a:xfrm>
            <a:off x="8001000" y="3767328"/>
            <a:ext cx="3401568" cy="1554480"/>
          </a:xfrm>
          <a:prstGeom prst="rect">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01000" y="3767328"/>
            <a:ext cx="109728" cy="155448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8472" y="3986784"/>
            <a:ext cx="2852928" cy="45720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0A0A0A"/>
                </a:solidFill>
                <a:latin typeface="Segoe UI Semibold"/>
              </a:rPr>
              <a:t>Dangerous request</a:t>
            </a:r>
          </a:p>
        </p:txBody>
      </p:sp>
      <p:sp>
        <p:nvSpPr>
          <p:cNvPr id="28" name="TextBox 27"/>
          <p:cNvSpPr txBox="1"/>
          <p:nvPr/>
        </p:nvSpPr>
        <p:spPr>
          <a:xfrm>
            <a:off x="8348472" y="4517136"/>
            <a:ext cx="2852928" cy="640080"/>
          </a:xfrm>
          <a:prstGeom prst="rect">
            <a:avLst/>
          </a:prstGeom>
          <a:noFill/>
        </p:spPr>
        <p:txBody>
          <a:bodyPr wrap="square" anchor="t" lIns="0" rIns="0" tIns="0" bIns="0">
            <a:spAutoFit/>
          </a:bodyPr>
          <a:lstStyle/>
          <a:p>
            <a:pPr algn="l">
              <a:lnSpc>
                <a:spcPct val="105000"/>
              </a:lnSpc>
              <a:spcBef>
                <a:spcPts val="0"/>
              </a:spcBef>
              <a:spcAft>
                <a:spcPts val="600"/>
              </a:spcAft>
            </a:pPr>
            <a:r>
              <a:rPr sz="1300" b="0">
                <a:solidFill>
                  <a:srgbClr val="6B7280"/>
                </a:solidFill>
                <a:latin typeface="Segoe UI"/>
              </a:rPr>
              <a:t>Policy blocks and refuses</a:t>
            </a:r>
          </a:p>
        </p:txBody>
      </p:sp>
      <p:sp>
        <p:nvSpPr>
          <p:cNvPr id="29" name="TextBox 28"/>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30" name="TextBox 29"/>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DIFFERENTIATION</a:t>
            </a:r>
          </a:p>
        </p:txBody>
      </p:sp>
      <p:sp>
        <p:nvSpPr>
          <p:cNvPr id="3" name="Rectangle 2"/>
          <p:cNvSpPr/>
          <p:nvPr/>
        </p:nvSpPr>
        <p:spPr>
          <a:xfrm>
            <a:off x="841248" y="868680"/>
            <a:ext cx="502920" cy="381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Not a chatbot. A guarded voice agent.</a:t>
            </a:r>
          </a:p>
        </p:txBody>
      </p:sp>
      <p:sp>
        <p:nvSpPr>
          <p:cNvPr id="5" name="Rectangle 4"/>
          <p:cNvSpPr/>
          <p:nvPr/>
        </p:nvSpPr>
        <p:spPr>
          <a:xfrm>
            <a:off x="868680" y="1920240"/>
            <a:ext cx="5074920" cy="3840480"/>
          </a:xfrm>
          <a:prstGeom prst="rect">
            <a:avLst/>
          </a:prstGeom>
          <a:solidFill>
            <a:srgbClr val="F6F7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21408"/>
            <a:ext cx="4343400" cy="457200"/>
          </a:xfrm>
          <a:prstGeom prst="rect">
            <a:avLst/>
          </a:prstGeom>
          <a:noFill/>
        </p:spPr>
        <p:txBody>
          <a:bodyPr wrap="square" anchor="t" lIns="0" rIns="0" tIns="0" bIns="0">
            <a:spAutoFit/>
          </a:bodyPr>
          <a:lstStyle/>
          <a:p>
            <a:pPr algn="l">
              <a:lnSpc>
                <a:spcPct val="100000"/>
              </a:lnSpc>
              <a:spcBef>
                <a:spcPts val="0"/>
              </a:spcBef>
              <a:spcAft>
                <a:spcPts val="600"/>
              </a:spcAft>
            </a:pPr>
            <a:r>
              <a:rPr sz="1800" b="1">
                <a:solidFill>
                  <a:srgbClr val="6B7280"/>
                </a:solidFill>
                <a:latin typeface="Segoe UI Semibold"/>
              </a:rPr>
              <a:t>Traditional chatbot</a:t>
            </a:r>
          </a:p>
        </p:txBody>
      </p:sp>
      <p:sp>
        <p:nvSpPr>
          <p:cNvPr id="7" name="Oval 6"/>
          <p:cNvSpPr/>
          <p:nvPr/>
        </p:nvSpPr>
        <p:spPr>
          <a:xfrm>
            <a:off x="1234440" y="2825496"/>
            <a:ext cx="109728" cy="109728"/>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2743200"/>
            <a:ext cx="405079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0">
                <a:solidFill>
                  <a:srgbClr val="6B7280"/>
                </a:solidFill>
                <a:latin typeface="Segoe UI"/>
              </a:rPr>
              <a:t>Text-first</a:t>
            </a:r>
          </a:p>
        </p:txBody>
      </p:sp>
      <p:sp>
        <p:nvSpPr>
          <p:cNvPr id="9" name="Oval 8"/>
          <p:cNvSpPr/>
          <p:nvPr/>
        </p:nvSpPr>
        <p:spPr>
          <a:xfrm>
            <a:off x="1234440" y="3392424"/>
            <a:ext cx="109728" cy="109728"/>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7048" y="3310128"/>
            <a:ext cx="405079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0">
                <a:solidFill>
                  <a:srgbClr val="6B7280"/>
                </a:solidFill>
                <a:latin typeface="Segoe UI"/>
              </a:rPr>
              <a:t>Answers FAQs</a:t>
            </a:r>
          </a:p>
        </p:txBody>
      </p:sp>
      <p:sp>
        <p:nvSpPr>
          <p:cNvPr id="11" name="Oval 10"/>
          <p:cNvSpPr/>
          <p:nvPr/>
        </p:nvSpPr>
        <p:spPr>
          <a:xfrm>
            <a:off x="1234440" y="3959352"/>
            <a:ext cx="109728" cy="109728"/>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27048" y="3877056"/>
            <a:ext cx="405079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0">
                <a:solidFill>
                  <a:srgbClr val="6B7280"/>
                </a:solidFill>
                <a:latin typeface="Segoe UI"/>
              </a:rPr>
              <a:t>Weak action safety</a:t>
            </a:r>
          </a:p>
        </p:txBody>
      </p:sp>
      <p:sp>
        <p:nvSpPr>
          <p:cNvPr id="13" name="Oval 12"/>
          <p:cNvSpPr/>
          <p:nvPr/>
        </p:nvSpPr>
        <p:spPr>
          <a:xfrm>
            <a:off x="1234440" y="4526280"/>
            <a:ext cx="109728" cy="109728"/>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27048" y="4443984"/>
            <a:ext cx="405079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0">
                <a:solidFill>
                  <a:srgbClr val="6B7280"/>
                </a:solidFill>
                <a:latin typeface="Segoe UI"/>
              </a:rPr>
              <a:t>Little visibility</a:t>
            </a:r>
          </a:p>
        </p:txBody>
      </p:sp>
      <p:sp>
        <p:nvSpPr>
          <p:cNvPr id="15" name="Rectangle 14"/>
          <p:cNvSpPr/>
          <p:nvPr/>
        </p:nvSpPr>
        <p:spPr>
          <a:xfrm>
            <a:off x="6263640" y="1920240"/>
            <a:ext cx="5074920" cy="3840480"/>
          </a:xfrm>
          <a:prstGeom prst="rect">
            <a:avLst/>
          </a:prstGeom>
          <a:solidFill>
            <a:srgbClr val="0B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2121408"/>
            <a:ext cx="4343400" cy="457200"/>
          </a:xfrm>
          <a:prstGeom prst="rect">
            <a:avLst/>
          </a:prstGeom>
          <a:noFill/>
        </p:spPr>
        <p:txBody>
          <a:bodyPr wrap="square" anchor="t" lIns="0" rIns="0" tIns="0" bIns="0">
            <a:spAutoFit/>
          </a:bodyPr>
          <a:lstStyle/>
          <a:p>
            <a:pPr algn="l">
              <a:lnSpc>
                <a:spcPct val="100000"/>
              </a:lnSpc>
              <a:spcBef>
                <a:spcPts val="0"/>
              </a:spcBef>
              <a:spcAft>
                <a:spcPts val="600"/>
              </a:spcAft>
            </a:pPr>
            <a:r>
              <a:rPr sz="1800" b="1">
                <a:solidFill>
                  <a:srgbClr val="FFFFFF"/>
                </a:solidFill>
                <a:latin typeface="Segoe UI Semibold"/>
              </a:rPr>
              <a:t>Voges</a:t>
            </a:r>
          </a:p>
        </p:txBody>
      </p:sp>
      <p:sp>
        <p:nvSpPr>
          <p:cNvPr id="17" name="Oval 16"/>
          <p:cNvSpPr/>
          <p:nvPr/>
        </p:nvSpPr>
        <p:spPr>
          <a:xfrm>
            <a:off x="6629400" y="2798064"/>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22008" y="2724912"/>
            <a:ext cx="4069080"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a:solidFill>
                  <a:srgbClr val="FFFFFF"/>
                </a:solidFill>
                <a:latin typeface="Segoe UI Semibold"/>
              </a:rPr>
              <a:t>Voice-first</a:t>
            </a:r>
          </a:p>
        </p:txBody>
      </p:sp>
      <p:sp>
        <p:nvSpPr>
          <p:cNvPr id="19" name="Oval 18"/>
          <p:cNvSpPr/>
          <p:nvPr/>
        </p:nvSpPr>
        <p:spPr>
          <a:xfrm>
            <a:off x="6629400" y="3282696"/>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22008" y="3209544"/>
            <a:ext cx="4069080"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a:solidFill>
                  <a:srgbClr val="FFFFFF"/>
                </a:solidFill>
                <a:latin typeface="Segoe UI Semibold"/>
              </a:rPr>
              <a:t>Tool-based</a:t>
            </a:r>
          </a:p>
        </p:txBody>
      </p:sp>
      <p:sp>
        <p:nvSpPr>
          <p:cNvPr id="21" name="Oval 20"/>
          <p:cNvSpPr/>
          <p:nvPr/>
        </p:nvSpPr>
        <p:spPr>
          <a:xfrm>
            <a:off x="6629400" y="3767328"/>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22008" y="3694176"/>
            <a:ext cx="4069080"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a:solidFill>
                  <a:srgbClr val="FFFFFF"/>
                </a:solidFill>
                <a:latin typeface="Segoe UI Semibold"/>
              </a:rPr>
              <a:t>Policy-controlled</a:t>
            </a:r>
          </a:p>
        </p:txBody>
      </p:sp>
      <p:sp>
        <p:nvSpPr>
          <p:cNvPr id="23" name="Oval 22"/>
          <p:cNvSpPr/>
          <p:nvPr/>
        </p:nvSpPr>
        <p:spPr>
          <a:xfrm>
            <a:off x="6629400" y="4251960"/>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22008" y="4178808"/>
            <a:ext cx="4069080"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a:solidFill>
                  <a:srgbClr val="FFFFFF"/>
                </a:solidFill>
                <a:latin typeface="Segoe UI Semibold"/>
              </a:rPr>
              <a:t>Passkey-secured</a:t>
            </a:r>
          </a:p>
        </p:txBody>
      </p:sp>
      <p:sp>
        <p:nvSpPr>
          <p:cNvPr id="25" name="Oval 24"/>
          <p:cNvSpPr/>
          <p:nvPr/>
        </p:nvSpPr>
        <p:spPr>
          <a:xfrm>
            <a:off x="6629400" y="473659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22008" y="4663440"/>
            <a:ext cx="4069080"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a:solidFill>
                  <a:srgbClr val="FFFFFF"/>
                </a:solidFill>
                <a:latin typeface="Segoe UI Semibold"/>
              </a:rPr>
              <a:t>Audit-backed</a:t>
            </a:r>
          </a:p>
        </p:txBody>
      </p:sp>
      <p:sp>
        <p:nvSpPr>
          <p:cNvPr id="27" name="Oval 26"/>
          <p:cNvSpPr/>
          <p:nvPr/>
        </p:nvSpPr>
        <p:spPr>
          <a:xfrm>
            <a:off x="6629400" y="5221224"/>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5148072"/>
            <a:ext cx="4069080"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a:solidFill>
                  <a:srgbClr val="FFFFFF"/>
                </a:solidFill>
                <a:latin typeface="Segoe UI Semibold"/>
              </a:rPr>
              <a:t>Screen as safety layer</a:t>
            </a:r>
          </a:p>
        </p:txBody>
      </p:sp>
      <p:sp>
        <p:nvSpPr>
          <p:cNvPr id="29" name="TextBox 28"/>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30" name="TextBox 29"/>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6692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a:solidFill>
                  <a:srgbClr val="6B7280"/>
                </a:solidFill>
                <a:latin typeface="Segoe UI Semibold"/>
              </a:rPr>
              <a:t>ROADMAP</a:t>
            </a:r>
          </a:p>
        </p:txBody>
      </p:sp>
      <p:sp>
        <p:nvSpPr>
          <p:cNvPr id="3" name="Rectangle 2"/>
          <p:cNvSpPr/>
          <p:nvPr/>
        </p:nvSpPr>
        <p:spPr>
          <a:xfrm>
            <a:off x="841248" y="868680"/>
            <a:ext cx="502920" cy="381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32688"/>
            <a:ext cx="10515600" cy="1005840"/>
          </a:xfrm>
          <a:prstGeom prst="rect">
            <a:avLst/>
          </a:prstGeom>
          <a:noFill/>
        </p:spPr>
        <p:txBody>
          <a:bodyPr wrap="square" anchor="t" lIns="0" rIns="0" tIns="0" bIns="0">
            <a:spAutoFit/>
          </a:bodyPr>
          <a:lstStyle/>
          <a:p>
            <a:pPr algn="l">
              <a:lnSpc>
                <a:spcPct val="100000"/>
              </a:lnSpc>
              <a:spcBef>
                <a:spcPts val="0"/>
              </a:spcBef>
              <a:spcAft>
                <a:spcPts val="600"/>
              </a:spcAft>
            </a:pPr>
            <a:r>
              <a:rPr sz="3400" b="1">
                <a:solidFill>
                  <a:srgbClr val="0A0A0A"/>
                </a:solidFill>
                <a:latin typeface="Segoe UI"/>
              </a:rPr>
              <a:t>Honest next steps to production</a:t>
            </a:r>
          </a:p>
        </p:txBody>
      </p:sp>
      <p:sp>
        <p:nvSpPr>
          <p:cNvPr id="5" name="Rectangle 4"/>
          <p:cNvSpPr/>
          <p:nvPr/>
        </p:nvSpPr>
        <p:spPr>
          <a:xfrm>
            <a:off x="868680" y="1847088"/>
            <a:ext cx="10469880"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847088"/>
            <a:ext cx="10058400" cy="777240"/>
          </a:xfrm>
          <a:prstGeom prst="rect">
            <a:avLst/>
          </a:prstGeom>
          <a:noFill/>
        </p:spPr>
        <p:txBody>
          <a:bodyPr wrap="square" anchor="ctr" lIns="0" rIns="0" tIns="0" bIns="0">
            <a:spAutoFit/>
          </a:bodyPr>
          <a:lstStyle/>
          <a:p>
            <a:pPr algn="l">
              <a:lnSpc>
                <a:spcPct val="105000"/>
              </a:lnSpc>
              <a:spcBef>
                <a:spcPts val="0"/>
              </a:spcBef>
              <a:spcAft>
                <a:spcPts val="600"/>
              </a:spcAft>
            </a:pPr>
            <a:r>
              <a:rPr sz="1450" b="1">
                <a:solidFill>
                  <a:srgbClr val="F59E0B"/>
                </a:solidFill>
                <a:latin typeface="Segoe UI Semibold"/>
              </a:rPr>
              <a:t>Demo limitation:  </a:t>
            </a:r>
            <a:r>
              <a:rPr sz="1450" b="0">
                <a:solidFill>
                  <a:srgbClr val="0A0A0A"/>
                </a:solidFill>
                <a:latin typeface="Segoe UI"/>
              </a:rPr>
              <a:t>today the app resolves a single demo customer. Real authenticated identity is the first production step.</a:t>
            </a:r>
          </a:p>
        </p:txBody>
      </p:sp>
      <p:sp>
        <p:nvSpPr>
          <p:cNvPr id="7" name="Oval 6"/>
          <p:cNvSpPr/>
          <p:nvPr/>
        </p:nvSpPr>
        <p:spPr>
          <a:xfrm>
            <a:off x="868680" y="300837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1288" y="2926080"/>
            <a:ext cx="491947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Authenticated identity.  </a:t>
            </a:r>
            <a:r>
              <a:rPr sz="1500" b="0">
                <a:solidFill>
                  <a:srgbClr val="6B7280"/>
                </a:solidFill>
                <a:latin typeface="Segoe UI"/>
              </a:rPr>
              <a:t>Bind sessions to a real, logged-in customer.</a:t>
            </a:r>
          </a:p>
        </p:txBody>
      </p:sp>
      <p:sp>
        <p:nvSpPr>
          <p:cNvPr id="9" name="Oval 8"/>
          <p:cNvSpPr/>
          <p:nvPr/>
        </p:nvSpPr>
        <p:spPr>
          <a:xfrm>
            <a:off x="868680" y="3849624"/>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3767328"/>
            <a:ext cx="491947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Multi-customer switching.  </a:t>
            </a:r>
            <a:r>
              <a:rPr sz="1500" b="0">
                <a:solidFill>
                  <a:srgbClr val="6B7280"/>
                </a:solidFill>
                <a:latin typeface="Segoe UI"/>
              </a:rPr>
              <a:t>Only after identity binding is in place.</a:t>
            </a:r>
          </a:p>
        </p:txBody>
      </p:sp>
      <p:sp>
        <p:nvSpPr>
          <p:cNvPr id="11" name="Oval 10"/>
          <p:cNvSpPr/>
          <p:nvPr/>
        </p:nvSpPr>
        <p:spPr>
          <a:xfrm>
            <a:off x="868680" y="4690872"/>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288" y="4608576"/>
            <a:ext cx="491947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Expanded policy rules.  </a:t>
            </a:r>
            <a:r>
              <a:rPr sz="1500" b="0">
                <a:solidFill>
                  <a:srgbClr val="6B7280"/>
                </a:solidFill>
                <a:latin typeface="Segoe UI"/>
              </a:rPr>
              <a:t>Cover more actions and risk conditions.</a:t>
            </a:r>
          </a:p>
        </p:txBody>
      </p:sp>
      <p:sp>
        <p:nvSpPr>
          <p:cNvPr id="13" name="Oval 12"/>
          <p:cNvSpPr/>
          <p:nvPr/>
        </p:nvSpPr>
        <p:spPr>
          <a:xfrm>
            <a:off x="6263640" y="3008376"/>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6248" y="2926080"/>
            <a:ext cx="473659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Production observability.  </a:t>
            </a:r>
            <a:r>
              <a:rPr sz="1500" b="0">
                <a:solidFill>
                  <a:srgbClr val="6B7280"/>
                </a:solidFill>
                <a:latin typeface="Segoe UI"/>
              </a:rPr>
              <a:t>Metrics, tracing, and alerting.</a:t>
            </a:r>
          </a:p>
        </p:txBody>
      </p:sp>
      <p:sp>
        <p:nvSpPr>
          <p:cNvPr id="15" name="Oval 14"/>
          <p:cNvSpPr/>
          <p:nvPr/>
        </p:nvSpPr>
        <p:spPr>
          <a:xfrm>
            <a:off x="6263640" y="3849624"/>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56248" y="3767328"/>
            <a:ext cx="473659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Bank core integration.  </a:t>
            </a:r>
            <a:r>
              <a:rPr sz="1500" b="0">
                <a:solidFill>
                  <a:srgbClr val="6B7280"/>
                </a:solidFill>
                <a:latin typeface="Segoe UI"/>
              </a:rPr>
              <a:t>Connect to real ledgers and card systems.</a:t>
            </a:r>
          </a:p>
        </p:txBody>
      </p:sp>
      <p:sp>
        <p:nvSpPr>
          <p:cNvPr id="17" name="Oval 16"/>
          <p:cNvSpPr/>
          <p:nvPr/>
        </p:nvSpPr>
        <p:spPr>
          <a:xfrm>
            <a:off x="6263640" y="4690872"/>
            <a:ext cx="109728" cy="109728"/>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56248" y="4608576"/>
            <a:ext cx="4736592" cy="640080"/>
          </a:xfrm>
          <a:prstGeom prst="rect">
            <a:avLst/>
          </a:prstGeom>
          <a:noFill/>
        </p:spPr>
        <p:txBody>
          <a:bodyPr wrap="square" anchor="t" lIns="0" rIns="0" tIns="0" bIns="0">
            <a:spAutoFit/>
          </a:bodyPr>
          <a:lstStyle/>
          <a:p>
            <a:pPr algn="l">
              <a:lnSpc>
                <a:spcPct val="102000"/>
              </a:lnSpc>
              <a:spcBef>
                <a:spcPts val="0"/>
              </a:spcBef>
              <a:spcAft>
                <a:spcPts val="600"/>
              </a:spcAft>
            </a:pPr>
            <a:r>
              <a:rPr sz="1500" b="1">
                <a:solidFill>
                  <a:srgbClr val="0A0A0A"/>
                </a:solidFill>
                <a:latin typeface="Segoe UI Semibold"/>
              </a:rPr>
              <a:t>Human escalation + languages.  </a:t>
            </a:r>
            <a:r>
              <a:rPr sz="1500" b="0">
                <a:solidFill>
                  <a:srgbClr val="6B7280"/>
                </a:solidFill>
                <a:latin typeface="Segoe UI"/>
              </a:rPr>
              <a:t>Live handoff and broader multilingual support.</a:t>
            </a:r>
          </a:p>
        </p:txBody>
      </p:sp>
      <p:sp>
        <p:nvSpPr>
          <p:cNvPr id="19" name="TextBox 18"/>
          <p:cNvSpPr txBox="1"/>
          <p:nvPr/>
        </p:nvSpPr>
        <p:spPr>
          <a:xfrm>
            <a:off x="822960" y="6419088"/>
            <a:ext cx="54864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1">
                <a:solidFill>
                  <a:srgbClr val="6B7280"/>
                </a:solidFill>
                <a:latin typeface="Segoe UI Semibold"/>
              </a:rPr>
              <a:t>VOGES</a:t>
            </a:r>
            <a:r>
              <a:rPr sz="900" b="0">
                <a:solidFill>
                  <a:srgbClr val="E5E7EB"/>
                </a:solidFill>
                <a:latin typeface="Segoe UI"/>
              </a:rPr>
              <a:t>  ·  Voice-first AI Financial Concierge</a:t>
            </a:r>
          </a:p>
        </p:txBody>
      </p:sp>
      <p:sp>
        <p:nvSpPr>
          <p:cNvPr id="20" name="TextBox 19"/>
          <p:cNvSpPr txBox="1"/>
          <p:nvPr/>
        </p:nvSpPr>
        <p:spPr>
          <a:xfrm>
            <a:off x="10424160" y="6419088"/>
            <a:ext cx="914400" cy="274320"/>
          </a:xfrm>
          <a:prstGeom prst="rect">
            <a:avLst/>
          </a:prstGeom>
          <a:noFill/>
        </p:spPr>
        <p:txBody>
          <a:bodyPr wrap="square" anchor="t" lIns="0" rIns="0" tIns="0" bIns="0">
            <a:spAutoFit/>
          </a:bodyPr>
          <a:lstStyle/>
          <a:p>
            <a:pPr algn="r">
              <a:lnSpc>
                <a:spcPct val="100000"/>
              </a:lnSpc>
              <a:spcBef>
                <a:spcPts val="0"/>
              </a:spcBef>
              <a:spcAft>
                <a:spcPts val="600"/>
              </a:spcAft>
            </a:pPr>
            <a:r>
              <a:rPr sz="900" b="1">
                <a:solidFill>
                  <a:srgbClr val="6B7280"/>
                </a:solidFill>
                <a:latin typeface="Segoe UI Semibold"/>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